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1"/>
  </p:sldMasterIdLst>
  <p:sldIdLst>
    <p:sldId id="256" r:id="rId2"/>
    <p:sldId id="257" r:id="rId3"/>
    <p:sldId id="258" r:id="rId4"/>
    <p:sldId id="259" r:id="rId5"/>
    <p:sldId id="260" r:id="rId6"/>
    <p:sldId id="266" r:id="rId7"/>
    <p:sldId id="261" r:id="rId8"/>
    <p:sldId id="262" r:id="rId9"/>
    <p:sldId id="263" r:id="rId10"/>
    <p:sldId id="264" r:id="rId11"/>
    <p:sldId id="265" r:id="rId12"/>
    <p:sldId id="267" r:id="rId13"/>
    <p:sldId id="268" r:id="rId14"/>
    <p:sldId id="269" r:id="rId15"/>
    <p:sldId id="270" r:id="rId16"/>
  </p:sldIdLst>
  <p:sldSz cx="9144000" cy="6858000" type="screen4x3"/>
  <p:notesSz cx="6858000" cy="9144000"/>
  <p:defaultTextStyle>
    <a:defPPr>
      <a:defRPr lang="es-E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40" autoAdjust="0"/>
    <p:restoredTop sz="94581" autoAdjust="0"/>
  </p:normalViewPr>
  <p:slideViewPr>
    <p:cSldViewPr>
      <p:cViewPr varScale="1">
        <p:scale>
          <a:sx n="74" d="100"/>
          <a:sy n="74" d="100"/>
        </p:scale>
        <p:origin x="-104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6 Triángulo isósceles"/>
          <p:cNvSpPr/>
          <p:nvPr/>
        </p:nvSpPr>
        <p:spPr>
          <a:xfrm rot="16200000">
            <a:off x="7554353" y="5254283"/>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Título"/>
          <p:cNvSpPr>
            <a:spLocks noGrp="1"/>
          </p:cNvSpPr>
          <p:nvPr>
            <p:ph type="ctrTitle"/>
          </p:nvPr>
        </p:nvSpPr>
        <p:spPr>
          <a:xfrm>
            <a:off x="540544" y="776288"/>
            <a:ext cx="8062912" cy="1470025"/>
          </a:xfrm>
        </p:spPr>
        <p:txBody>
          <a:bodyPr anchor="b">
            <a:normAutofit/>
          </a:bodyPr>
          <a:lstStyle>
            <a:lvl1pPr algn="r">
              <a:defRPr sz="4400"/>
            </a:lvl1pPr>
          </a:lstStyle>
          <a:p>
            <a:r>
              <a:rPr kumimoji="0" lang="es-ES" smtClean="0"/>
              <a:t>Haga clic para modificar el estilo de título del patrón</a:t>
            </a:r>
            <a:endParaRPr kumimoji="0" lang="en-US"/>
          </a:p>
        </p:txBody>
      </p:sp>
      <p:sp>
        <p:nvSpPr>
          <p:cNvPr id="9" name="8 Subtítulo"/>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a:xfrm>
            <a:off x="1371600" y="6012656"/>
            <a:ext cx="5791200" cy="365125"/>
          </a:xfrm>
        </p:spPr>
        <p:txBody>
          <a:bodyPr tIns="0" bIns="0" anchor="t"/>
          <a:lstStyle>
            <a:lvl1pPr algn="r">
              <a:defRPr sz="1000"/>
            </a:lvl1pPr>
          </a:lstStyle>
          <a:p>
            <a:endParaRPr lang="es-ES"/>
          </a:p>
        </p:txBody>
      </p:sp>
      <p:sp>
        <p:nvSpPr>
          <p:cNvPr id="17" name="16 Marcador de pie de página"/>
          <p:cNvSpPr>
            <a:spLocks noGrp="1"/>
          </p:cNvSpPr>
          <p:nvPr>
            <p:ph type="ftr" sz="quarter" idx="11"/>
          </p:nvPr>
        </p:nvSpPr>
        <p:spPr>
          <a:xfrm>
            <a:off x="1371600" y="5650704"/>
            <a:ext cx="5791200" cy="365125"/>
          </a:xfrm>
        </p:spPr>
        <p:txBody>
          <a:bodyPr tIns="0" bIns="0" anchor="b"/>
          <a:lstStyle>
            <a:lvl1pPr algn="r">
              <a:defRPr sz="1100"/>
            </a:lvl1pPr>
          </a:lstStyle>
          <a:p>
            <a:endParaRPr lang="es-ES"/>
          </a:p>
        </p:txBody>
      </p:sp>
      <p:sp>
        <p:nvSpPr>
          <p:cNvPr id="29" name="28 Marcador de número de diapositiva"/>
          <p:cNvSpPr>
            <a:spLocks noGrp="1"/>
          </p:cNvSpPr>
          <p:nvPr>
            <p:ph type="sldNum" sz="quarter" idx="12"/>
          </p:nvPr>
        </p:nvSpPr>
        <p:spPr>
          <a:xfrm>
            <a:off x="8392247" y="5752307"/>
            <a:ext cx="502920" cy="365125"/>
          </a:xfrm>
        </p:spPr>
        <p:txBody>
          <a:bodyPr anchor="ctr"/>
          <a:lstStyle>
            <a:lvl1pPr algn="ctr">
              <a:defRPr sz="1300">
                <a:solidFill>
                  <a:srgbClr val="FFFFFF"/>
                </a:solidFill>
              </a:defRPr>
            </a:lvl1pPr>
          </a:lstStyle>
          <a:p>
            <a:fld id="{5ED176E8-D504-446A-B241-DE732527F121}" type="slidenum">
              <a:rPr lang="es-ES" smtClean="0"/>
              <a:pPr/>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67494"/>
            <a:ext cx="8229600" cy="1399032"/>
          </a:xfrm>
        </p:spPr>
        <p:txBody>
          <a:bodyPr/>
          <a:lstStyle/>
          <a:p>
            <a:r>
              <a:rPr kumimoji="0" lang="es-ES" smtClean="0"/>
              <a:t>Haga clic para modificar el estilo de título del patrón</a:t>
            </a:r>
            <a:endParaRPr kumimoji="0" lang="en-US"/>
          </a:p>
        </p:txBody>
      </p:sp>
      <p:sp>
        <p:nvSpPr>
          <p:cNvPr id="3" name="2 Marcador de contenido"/>
          <p:cNvSpPr>
            <a:spLocks noGrp="1"/>
          </p:cNvSpPr>
          <p:nvPr>
            <p:ph idx="1"/>
          </p:nvPr>
        </p:nvSpPr>
        <p:spPr>
          <a:xfrm>
            <a:off x="457200" y="1882808"/>
            <a:ext cx="822960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a:xfrm>
            <a:off x="4791456" y="6480048"/>
            <a:ext cx="2133600" cy="301752"/>
          </a:xfrm>
        </p:spPr>
        <p:txBody>
          <a:bodyPr/>
          <a:lstStyle/>
          <a:p>
            <a:endParaRPr lang="es-ES"/>
          </a:p>
        </p:txBody>
      </p:sp>
      <p:sp>
        <p:nvSpPr>
          <p:cNvPr id="5" name="4 Marcador de pie de página"/>
          <p:cNvSpPr>
            <a:spLocks noGrp="1"/>
          </p:cNvSpPr>
          <p:nvPr>
            <p:ph type="ftr" sz="quarter" idx="11"/>
          </p:nvPr>
        </p:nvSpPr>
        <p:spPr>
          <a:xfrm>
            <a:off x="457200" y="6480969"/>
            <a:ext cx="4260056" cy="300831"/>
          </a:xfrm>
        </p:spPr>
        <p:txBody>
          <a:bodyPr/>
          <a:lstStyle/>
          <a:p>
            <a:endParaRPr lang="es-ES"/>
          </a:p>
        </p:txBody>
      </p:sp>
      <p:sp>
        <p:nvSpPr>
          <p:cNvPr id="6" name="5 Marcador de número de diapositiva"/>
          <p:cNvSpPr>
            <a:spLocks noGrp="1"/>
          </p:cNvSpPr>
          <p:nvPr>
            <p:ph type="sldNum" sz="quarter" idx="12"/>
          </p:nvPr>
        </p:nvSpPr>
        <p:spPr/>
        <p:txBody>
          <a:bodyPr/>
          <a:lstStyle/>
          <a:p>
            <a:fld id="{27063BD7-EAC2-41A1-A77D-23063991F1A8}" type="slidenum">
              <a:rPr lang="es-ES" smtClean="0"/>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2">
        <a:schemeClr val="bg1"/>
      </p:bgRef>
    </p:bg>
    <p:spTree>
      <p:nvGrpSpPr>
        <p:cNvPr id="1" name=""/>
        <p:cNvGrpSpPr/>
        <p:nvPr/>
      </p:nvGrpSpPr>
      <p:grpSpPr>
        <a:xfrm>
          <a:off x="0" y="0"/>
          <a:ext cx="0" cy="0"/>
          <a:chOff x="0" y="0"/>
          <a:chExt cx="0" cy="0"/>
        </a:xfrm>
      </p:grpSpPr>
      <p:sp>
        <p:nvSpPr>
          <p:cNvPr id="9" name="8 Triángulo rectángulo"/>
          <p:cNvSpPr/>
          <p:nvPr/>
        </p:nvSpPr>
        <p:spPr>
          <a:xfrm flipV="1">
            <a:off x="7034" y="7034"/>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algn="ctr" defTabSz="914400" rtl="0" eaLnBrk="1" latinLnBrk="0" hangingPunct="1"/>
            <a:endParaRPr kumimoji="0" lang="en-US" sz="1800" kern="1200">
              <a:solidFill>
                <a:schemeClr val="lt1"/>
              </a:solidFill>
              <a:latin typeface="+mn-lt"/>
              <a:ea typeface="+mn-ea"/>
              <a:cs typeface="+mn-cs"/>
            </a:endParaRPr>
          </a:p>
        </p:txBody>
      </p:sp>
      <p:sp>
        <p:nvSpPr>
          <p:cNvPr id="8" name="7 Triángulo isósceles"/>
          <p:cNvSpPr/>
          <p:nvPr/>
        </p:nvSpPr>
        <p:spPr>
          <a:xfrm rot="5400000" flipV="1">
            <a:off x="7554353" y="309490"/>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 name="3 Marcador de fecha"/>
          <p:cNvSpPr>
            <a:spLocks noGrp="1"/>
          </p:cNvSpPr>
          <p:nvPr>
            <p:ph type="dt" sz="half" idx="10"/>
          </p:nvPr>
        </p:nvSpPr>
        <p:spPr>
          <a:xfrm>
            <a:off x="6955632" y="6477000"/>
            <a:ext cx="2133600" cy="304800"/>
          </a:xfrm>
        </p:spPr>
        <p:txBody>
          <a:bodyPr/>
          <a:lstStyle/>
          <a:p>
            <a:endParaRPr lang="es-ES"/>
          </a:p>
        </p:txBody>
      </p:sp>
      <p:sp>
        <p:nvSpPr>
          <p:cNvPr id="5" name="4 Marcador de pie de página"/>
          <p:cNvSpPr>
            <a:spLocks noGrp="1"/>
          </p:cNvSpPr>
          <p:nvPr>
            <p:ph type="ftr" sz="quarter" idx="11"/>
          </p:nvPr>
        </p:nvSpPr>
        <p:spPr>
          <a:xfrm>
            <a:off x="2619376" y="6480969"/>
            <a:ext cx="4260056" cy="300831"/>
          </a:xfrm>
        </p:spPr>
        <p:txBody>
          <a:bodyPr/>
          <a:lstStyle/>
          <a:p>
            <a:endParaRPr lang="es-ES"/>
          </a:p>
        </p:txBody>
      </p:sp>
      <p:sp>
        <p:nvSpPr>
          <p:cNvPr id="6" name="5 Marcador de número de diapositiva"/>
          <p:cNvSpPr>
            <a:spLocks noGrp="1"/>
          </p:cNvSpPr>
          <p:nvPr>
            <p:ph type="sldNum" sz="quarter" idx="12"/>
          </p:nvPr>
        </p:nvSpPr>
        <p:spPr>
          <a:xfrm>
            <a:off x="8451056" y="809624"/>
            <a:ext cx="502920" cy="300831"/>
          </a:xfrm>
        </p:spPr>
        <p:txBody>
          <a:bodyPr/>
          <a:lstStyle/>
          <a:p>
            <a:fld id="{6C073F2D-B550-4DCE-A9D0-7445A44CFF39}" type="slidenum">
              <a:rPr lang="es-ES" smtClean="0"/>
              <a:pPr/>
              <a:t>‹Nº›</a:t>
            </a:fld>
            <a:endParaRPr lang="es-ES"/>
          </a:p>
        </p:txBody>
      </p:sp>
      <p:cxnSp>
        <p:nvCxnSpPr>
          <p:cNvPr id="11" name="10 Conector recto"/>
          <p:cNvCxnSpPr/>
          <p:nvPr/>
        </p:nvCxnSpPr>
        <p:spPr>
          <a:xfrm rot="10800000">
            <a:off x="6468794" y="9381"/>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0" name="9 Conector recto"/>
          <p:cNvCxnSpPr/>
          <p:nvPr/>
        </p:nvCxnSpPr>
        <p:spPr>
          <a:xfrm flipV="1">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1 Título"/>
          <p:cNvSpPr>
            <a:spLocks noGrp="1"/>
          </p:cNvSpPr>
          <p:nvPr>
            <p:ph type="title"/>
          </p:nvPr>
        </p:nvSpPr>
        <p:spPr>
          <a:xfrm>
            <a:off x="381000" y="271464"/>
            <a:ext cx="7239000" cy="1362075"/>
          </a:xfrm>
        </p:spPr>
        <p:txBody>
          <a:bodyPr anchor="ctr"/>
          <a:lstStyle>
            <a:lvl1pPr marL="0" algn="l">
              <a:buNone/>
              <a:defRPr sz="3600" b="1" cap="none"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381000" y="1633536"/>
            <a:ext cx="3886200" cy="2286000"/>
          </a:xfrm>
        </p:spPr>
        <p:txBody>
          <a:bodyPr anchor="t"/>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marL="0" algn="l">
              <a:defRPr/>
            </a:lvl1pPr>
          </a:lstStyle>
          <a:p>
            <a:r>
              <a:rPr kumimoji="0" lang="es-ES" smtClean="0"/>
              <a:t>Haga clic para modificar el estilo de título del patrón</a:t>
            </a:r>
            <a:endParaRPr kumimoji="0" lang="en-US"/>
          </a:p>
        </p:txBody>
      </p:sp>
      <p:sp>
        <p:nvSpPr>
          <p:cNvPr id="3" name="2 Marcador de contenido"/>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a:xfrm>
            <a:off x="4791456" y="6480969"/>
            <a:ext cx="2133600" cy="301752"/>
          </a:xfrm>
        </p:spPr>
        <p:txBody>
          <a:bodyPr/>
          <a:lstStyle/>
          <a:p>
            <a:endParaRPr lang="es-ES"/>
          </a:p>
        </p:txBody>
      </p:sp>
      <p:sp>
        <p:nvSpPr>
          <p:cNvPr id="6" name="5 Marcador de pie de página"/>
          <p:cNvSpPr>
            <a:spLocks noGrp="1"/>
          </p:cNvSpPr>
          <p:nvPr>
            <p:ph type="ftr" sz="quarter" idx="11"/>
          </p:nvPr>
        </p:nvSpPr>
        <p:spPr>
          <a:xfrm>
            <a:off x="457200" y="6480969"/>
            <a:ext cx="4260056" cy="301752"/>
          </a:xfrm>
        </p:spPr>
        <p:txBody>
          <a:bodyPr/>
          <a:lstStyle/>
          <a:p>
            <a:endParaRPr lang="es-ES"/>
          </a:p>
        </p:txBody>
      </p:sp>
      <p:sp>
        <p:nvSpPr>
          <p:cNvPr id="7" name="6 Marcador de número de diapositiva"/>
          <p:cNvSpPr>
            <a:spLocks noGrp="1"/>
          </p:cNvSpPr>
          <p:nvPr>
            <p:ph type="sldNum" sz="quarter" idx="12"/>
          </p:nvPr>
        </p:nvSpPr>
        <p:spPr>
          <a:xfrm>
            <a:off x="7589520" y="6480969"/>
            <a:ext cx="502920" cy="301752"/>
          </a:xfrm>
        </p:spPr>
        <p:txBody>
          <a:bodyPr/>
          <a:lstStyle/>
          <a:p>
            <a:fld id="{A8611D35-FDA4-4A0B-97FA-5160783AD123}" type="slidenum">
              <a:rPr lang="es-ES" smtClean="0"/>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bg>
      <p:bgRef idx="1002">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0"/>
          </p:nvPr>
        </p:nvSpPr>
        <p:spPr>
          <a:xfrm>
            <a:off x="4791456" y="6480969"/>
            <a:ext cx="2130552" cy="301752"/>
          </a:xfrm>
        </p:spPr>
        <p:txBody>
          <a:bodyPr/>
          <a:lstStyle/>
          <a:p>
            <a:endParaRPr lang="es-ES"/>
          </a:p>
        </p:txBody>
      </p:sp>
      <p:sp>
        <p:nvSpPr>
          <p:cNvPr id="8" name="7 Marcador de pie de página"/>
          <p:cNvSpPr>
            <a:spLocks noGrp="1"/>
          </p:cNvSpPr>
          <p:nvPr>
            <p:ph type="ftr" sz="quarter" idx="11"/>
          </p:nvPr>
        </p:nvSpPr>
        <p:spPr>
          <a:xfrm>
            <a:off x="457200" y="6480969"/>
            <a:ext cx="4261104" cy="301752"/>
          </a:xfrm>
        </p:spPr>
        <p:txBody>
          <a:bodyPr/>
          <a:lstStyle/>
          <a:p>
            <a:endParaRPr lang="es-ES"/>
          </a:p>
        </p:txBody>
      </p:sp>
      <p:sp>
        <p:nvSpPr>
          <p:cNvPr id="9" name="8 Marcador de número de diapositiva"/>
          <p:cNvSpPr>
            <a:spLocks noGrp="1"/>
          </p:cNvSpPr>
          <p:nvPr>
            <p:ph type="sldNum" sz="quarter" idx="12"/>
          </p:nvPr>
        </p:nvSpPr>
        <p:spPr>
          <a:xfrm>
            <a:off x="7589520" y="6483096"/>
            <a:ext cx="502920" cy="301752"/>
          </a:xfrm>
        </p:spPr>
        <p:txBody>
          <a:bodyPr/>
          <a:lstStyle>
            <a:lvl1pPr algn="ctr">
              <a:defRPr/>
            </a:lvl1pPr>
          </a:lstStyle>
          <a:p>
            <a:fld id="{92E12F0C-B6B0-4D04-BAA6-7B327AA19CCE}" type="slidenum">
              <a:rPr lang="es-ES" smtClean="0"/>
              <a:pPr/>
              <a:t>‹Nº›</a:t>
            </a:fld>
            <a:endParaRPr lang="es-ES"/>
          </a:p>
        </p:txBody>
      </p:sp>
    </p:spTree>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b="0"/>
            </a:lvl1p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C998D5B5-678D-45A7-86C6-C266EF25EEA8}"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a:xfrm>
            <a:off x="4791456" y="6480969"/>
            <a:ext cx="2133600" cy="301752"/>
          </a:xfrm>
        </p:spPr>
        <p:txBody>
          <a:bodyPr/>
          <a:lstStyle/>
          <a:p>
            <a:endParaRPr lang="es-ES"/>
          </a:p>
        </p:txBody>
      </p:sp>
      <p:sp>
        <p:nvSpPr>
          <p:cNvPr id="3" name="2 Marcador de pie de página"/>
          <p:cNvSpPr>
            <a:spLocks noGrp="1"/>
          </p:cNvSpPr>
          <p:nvPr>
            <p:ph type="ftr" sz="quarter" idx="11"/>
          </p:nvPr>
        </p:nvSpPr>
        <p:spPr>
          <a:xfrm>
            <a:off x="457200" y="6481890"/>
            <a:ext cx="4260056" cy="300831"/>
          </a:xfrm>
        </p:spPr>
        <p:txBody>
          <a:bodyPr/>
          <a:lstStyle/>
          <a:p>
            <a:endParaRPr lang="es-ES"/>
          </a:p>
        </p:txBody>
      </p:sp>
      <p:sp>
        <p:nvSpPr>
          <p:cNvPr id="4" name="3 Marcador de número de diapositiva"/>
          <p:cNvSpPr>
            <a:spLocks noGrp="1"/>
          </p:cNvSpPr>
          <p:nvPr>
            <p:ph type="sldNum" sz="quarter" idx="12"/>
          </p:nvPr>
        </p:nvSpPr>
        <p:spPr>
          <a:xfrm>
            <a:off x="7589520" y="6480969"/>
            <a:ext cx="502920" cy="301752"/>
          </a:xfrm>
        </p:spPr>
        <p:txBody>
          <a:bodyPr/>
          <a:lstStyle/>
          <a:p>
            <a:fld id="{12E95649-C6F5-493C-B158-8917E70C6EA9}"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2">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1135856" y="367664"/>
            <a:ext cx="2438400" cy="5943600"/>
          </a:xfrm>
        </p:spPr>
        <p:txBody>
          <a:bodyPr anchor="t"/>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4" name="3 Marcador de contenido"/>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a:xfrm>
            <a:off x="6278976" y="6556248"/>
            <a:ext cx="2133600" cy="301752"/>
          </a:xfrm>
        </p:spPr>
        <p:txBody>
          <a:bodyPr/>
          <a:lstStyle>
            <a:lvl1pPr>
              <a:defRPr sz="900"/>
            </a:lvl1pPr>
          </a:lstStyle>
          <a:p>
            <a:endParaRPr lang="es-ES"/>
          </a:p>
        </p:txBody>
      </p:sp>
      <p:sp>
        <p:nvSpPr>
          <p:cNvPr id="6" name="5 Marcador de pie de página"/>
          <p:cNvSpPr>
            <a:spLocks noGrp="1"/>
          </p:cNvSpPr>
          <p:nvPr>
            <p:ph type="ftr" sz="quarter" idx="11"/>
          </p:nvPr>
        </p:nvSpPr>
        <p:spPr>
          <a:xfrm>
            <a:off x="1135856" y="6556248"/>
            <a:ext cx="5143120" cy="301752"/>
          </a:xfrm>
        </p:spPr>
        <p:txBody>
          <a:bodyPr/>
          <a:lstStyle>
            <a:lvl1pPr>
              <a:defRPr sz="900"/>
            </a:lvl1pPr>
          </a:lstStyle>
          <a:p>
            <a:endParaRPr lang="es-ES"/>
          </a:p>
        </p:txBody>
      </p:sp>
      <p:sp>
        <p:nvSpPr>
          <p:cNvPr id="7" name="6 Marcador de número de diapositiva"/>
          <p:cNvSpPr>
            <a:spLocks noGrp="1"/>
          </p:cNvSpPr>
          <p:nvPr>
            <p:ph type="sldNum" sz="quarter" idx="12"/>
          </p:nvPr>
        </p:nvSpPr>
        <p:spPr>
          <a:xfrm>
            <a:off x="8410576" y="6556248"/>
            <a:ext cx="502920" cy="301752"/>
          </a:xfrm>
        </p:spPr>
        <p:txBody>
          <a:bodyPr/>
          <a:lstStyle>
            <a:lvl1pPr>
              <a:defRPr sz="900"/>
            </a:lvl1pPr>
          </a:lstStyle>
          <a:p>
            <a:fld id="{0E3BBA15-5824-4C9B-B34F-C7F36C54B617}" type="slidenum">
              <a:rPr lang="es-ES" smtClean="0"/>
              <a:pPr/>
              <a:t>‹Nº›</a:t>
            </a:fld>
            <a:endParaRPr lang="es-ES"/>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2">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19456" y="150896"/>
            <a:ext cx="914400" cy="6400800"/>
          </a:xfrm>
        </p:spPr>
        <p:txBody>
          <a:bodyPr vert="vert270" anchor="b"/>
          <a:lstStyle>
            <a:lvl1pPr marL="0" algn="l">
              <a:buNone/>
              <a:defRPr sz="3000" b="0" cap="all" baseline="0"/>
            </a:lvl1pPr>
          </a:lstStyle>
          <a:p>
            <a:r>
              <a:rPr kumimoji="0" lang="es-ES" smtClean="0"/>
              <a:t>Haga clic para modificar el estilo de título del patrón</a:t>
            </a:r>
            <a:endParaRPr kumimoji="0" lang="en-US"/>
          </a:p>
        </p:txBody>
      </p:sp>
      <p:sp>
        <p:nvSpPr>
          <p:cNvPr id="3" name="2 Marcador de posición de imagen"/>
          <p:cNvSpPr>
            <a:spLocks noGrp="1"/>
          </p:cNvSpPr>
          <p:nvPr>
            <p:ph type="pic" idx="1"/>
          </p:nvPr>
        </p:nvSpPr>
        <p:spPr>
          <a:xfrm>
            <a:off x="1138237" y="373966"/>
            <a:ext cx="7333488" cy="5486400"/>
          </a:xfrm>
          <a:solidFill>
            <a:schemeClr val="bg2">
              <a:shade val="50000"/>
            </a:schemeClr>
          </a:solidFill>
        </p:spPr>
        <p:txBody>
          <a:bodyPr/>
          <a:lstStyle>
            <a:lvl1pPr marL="0" indent="0">
              <a:buNone/>
              <a:defRPr sz="3200"/>
            </a:lvl1pPr>
          </a:lstStyle>
          <a:p>
            <a:r>
              <a:rPr kumimoji="0" lang="es-ES" smtClean="0"/>
              <a:t>Haga clic en el icono para agregar una imagen</a:t>
            </a:r>
            <a:endParaRPr kumimoji="0" lang="en-US" dirty="0"/>
          </a:p>
        </p:txBody>
      </p:sp>
      <p:sp>
        <p:nvSpPr>
          <p:cNvPr id="4" name="3 Marcador de texto"/>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a:xfrm>
            <a:off x="6108192" y="6556248"/>
            <a:ext cx="2103120" cy="301752"/>
          </a:xfrm>
        </p:spPr>
        <p:txBody>
          <a:bodyPr/>
          <a:lstStyle>
            <a:lvl1pPr>
              <a:defRPr sz="900"/>
            </a:lvl1pPr>
          </a:lstStyle>
          <a:p>
            <a:endParaRPr lang="es-ES"/>
          </a:p>
        </p:txBody>
      </p:sp>
      <p:sp>
        <p:nvSpPr>
          <p:cNvPr id="6" name="5 Marcador de pie de página"/>
          <p:cNvSpPr>
            <a:spLocks noGrp="1"/>
          </p:cNvSpPr>
          <p:nvPr>
            <p:ph type="ftr" sz="quarter" idx="11"/>
          </p:nvPr>
        </p:nvSpPr>
        <p:spPr>
          <a:xfrm>
            <a:off x="1170432" y="6557169"/>
            <a:ext cx="4948072" cy="301752"/>
          </a:xfrm>
        </p:spPr>
        <p:txBody>
          <a:bodyPr/>
          <a:lstStyle>
            <a:lvl1pPr>
              <a:defRPr sz="900"/>
            </a:lvl1pPr>
          </a:lstStyle>
          <a:p>
            <a:endParaRPr lang="es-ES"/>
          </a:p>
        </p:txBody>
      </p:sp>
      <p:sp>
        <p:nvSpPr>
          <p:cNvPr id="7" name="6 Marcador de número de diapositiva"/>
          <p:cNvSpPr>
            <a:spLocks noGrp="1"/>
          </p:cNvSpPr>
          <p:nvPr>
            <p:ph type="sldNum" sz="quarter" idx="12"/>
          </p:nvPr>
        </p:nvSpPr>
        <p:spPr>
          <a:xfrm>
            <a:off x="8217192" y="6556248"/>
            <a:ext cx="365760" cy="301752"/>
          </a:xfrm>
        </p:spPr>
        <p:txBody>
          <a:bodyPr/>
          <a:lstStyle>
            <a:lvl1pPr algn="ctr">
              <a:defRPr sz="900"/>
            </a:lvl1pPr>
          </a:lstStyle>
          <a:p>
            <a:fld id="{A662A40F-4BAC-4BF4-B819-9481074DF88E}" type="slidenum">
              <a:rPr lang="es-ES" smtClean="0"/>
              <a:pPr/>
              <a:t>‹Nº›</a:t>
            </a:fld>
            <a:endParaRPr lang="es-E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784B5FA4-F97A-418F-B813-FD1CB5BDA188}"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781800" y="381000"/>
            <a:ext cx="1905000" cy="5486400"/>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381000"/>
            <a:ext cx="6248400" cy="5486400"/>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E828A30F-ECE3-463D-A499-766F3395C235}"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10 Triángulo rectángulo"/>
          <p:cNvSpPr/>
          <p:nvPr/>
        </p:nvSpPr>
        <p:spPr>
          <a:xfrm>
            <a:off x="7034" y="14068"/>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8" name="7 Conector recto"/>
          <p:cNvCxnSpPr/>
          <p:nvPr/>
        </p:nvCxnSpPr>
        <p:spPr>
          <a:xfrm>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8 Conector recto"/>
          <p:cNvCxnSpPr/>
          <p:nvPr/>
        </p:nvCxnSpPr>
        <p:spPr>
          <a:xfrm rot="10800000" flipV="1">
            <a:off x="6468794" y="4948410"/>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21 Marcador de título"/>
          <p:cNvSpPr>
            <a:spLocks noGrp="1"/>
          </p:cNvSpPr>
          <p:nvPr>
            <p:ph type="title"/>
          </p:nvPr>
        </p:nvSpPr>
        <p:spPr>
          <a:xfrm>
            <a:off x="457200" y="267494"/>
            <a:ext cx="8229600" cy="1399032"/>
          </a:xfrm>
          <a:prstGeom prst="rect">
            <a:avLst/>
          </a:prstGeom>
        </p:spPr>
        <p:txBody>
          <a:bodyPr vert="horz" anchor="ctr">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457200" y="1882808"/>
            <a:ext cx="8229600" cy="4572000"/>
          </a:xfrm>
          <a:prstGeom prst="rect">
            <a:avLst/>
          </a:prstGeom>
        </p:spPr>
        <p:txBody>
          <a:bodyPr vert="horz" anchor="t">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a:off x="4791456" y="6480969"/>
            <a:ext cx="2133600" cy="301752"/>
          </a:xfrm>
          <a:prstGeom prst="rect">
            <a:avLst/>
          </a:prstGeom>
        </p:spPr>
        <p:txBody>
          <a:bodyPr vert="horz" anchor="b"/>
          <a:lstStyle>
            <a:lvl1pPr algn="l" eaLnBrk="1" latinLnBrk="0" hangingPunct="1">
              <a:defRPr kumimoji="0" sz="1000" b="0">
                <a:solidFill>
                  <a:schemeClr val="tx1"/>
                </a:solidFill>
              </a:defRPr>
            </a:lvl1pPr>
          </a:lstStyle>
          <a:p>
            <a:endParaRPr lang="es-ES"/>
          </a:p>
        </p:txBody>
      </p:sp>
      <p:sp>
        <p:nvSpPr>
          <p:cNvPr id="3" name="2 Marcador de pie de página"/>
          <p:cNvSpPr>
            <a:spLocks noGrp="1"/>
          </p:cNvSpPr>
          <p:nvPr>
            <p:ph type="ftr" sz="quarter" idx="3"/>
          </p:nvPr>
        </p:nvSpPr>
        <p:spPr>
          <a:xfrm>
            <a:off x="457200" y="6481890"/>
            <a:ext cx="4260056" cy="300831"/>
          </a:xfrm>
          <a:prstGeom prst="rect">
            <a:avLst/>
          </a:prstGeom>
        </p:spPr>
        <p:txBody>
          <a:bodyPr vert="horz" anchor="b"/>
          <a:lstStyle>
            <a:lvl1pPr algn="r" eaLnBrk="1" latinLnBrk="0" hangingPunct="1">
              <a:defRPr kumimoji="0" sz="1000">
                <a:solidFill>
                  <a:schemeClr val="tx1"/>
                </a:solidFill>
              </a:defRPr>
            </a:lvl1pPr>
          </a:lstStyle>
          <a:p>
            <a:endParaRPr lang="es-ES"/>
          </a:p>
        </p:txBody>
      </p:sp>
      <p:sp>
        <p:nvSpPr>
          <p:cNvPr id="23" name="22 Marcador de número de diapositiva"/>
          <p:cNvSpPr>
            <a:spLocks noGrp="1"/>
          </p:cNvSpPr>
          <p:nvPr>
            <p:ph type="sldNum" sz="quarter" idx="4"/>
          </p:nvPr>
        </p:nvSpPr>
        <p:spPr>
          <a:xfrm>
            <a:off x="7589520" y="6480969"/>
            <a:ext cx="502920" cy="301752"/>
          </a:xfrm>
          <a:prstGeom prst="rect">
            <a:avLst/>
          </a:prstGeom>
        </p:spPr>
        <p:txBody>
          <a:bodyPr vert="horz" anchor="b"/>
          <a:lstStyle>
            <a:lvl1pPr algn="ctr" eaLnBrk="1" latinLnBrk="0" hangingPunct="1">
              <a:defRPr kumimoji="0" sz="1200">
                <a:solidFill>
                  <a:schemeClr val="tx1"/>
                </a:solidFill>
              </a:defRPr>
            </a:lvl1pPr>
          </a:lstStyle>
          <a:p>
            <a:fld id="{86CB1784-5197-4E53-B1C0-CC1CDE429775}" type="slidenum">
              <a:rPr lang="es-ES" smtClean="0"/>
              <a:pPr/>
              <a:t>‹Nº›</a:t>
            </a:fld>
            <a:endParaRPr lang="es-ES"/>
          </a:p>
        </p:txBody>
      </p:sp>
    </p:spTree>
  </p:cSld>
  <p:clrMap bg1="dk1" tx1="lt1" bg2="dk2" tx2="lt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marL="484632" algn="l" rtl="0" eaLnBrk="1" latinLnBrk="0" hangingPunct="1">
        <a:spcBef>
          <a:spcPct val="0"/>
        </a:spcBef>
        <a:buNone/>
        <a:defRPr kumimoji="0" sz="42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latin typeface="+mj-lt"/>
          <a:ea typeface="+mj-ea"/>
          <a:cs typeface="+mj-cs"/>
        </a:defRPr>
      </a:lvl1pPr>
    </p:titleStyle>
    <p:bodyStyle>
      <a:lvl1pPr marL="448056"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0"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0"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0"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0"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s-ES">
                <a:latin typeface="Verdana" pitchFamily="34" charset="0"/>
              </a:rPr>
              <a:t>PRINCIPIOS DE PROGRAMACION</a:t>
            </a:r>
          </a:p>
        </p:txBody>
      </p:sp>
      <p:sp>
        <p:nvSpPr>
          <p:cNvPr id="2051" name="Rectangle 3"/>
          <p:cNvSpPr>
            <a:spLocks noGrp="1" noChangeArrowheads="1"/>
          </p:cNvSpPr>
          <p:nvPr>
            <p:ph type="subTitle" idx="1"/>
          </p:nvPr>
        </p:nvSpPr>
        <p:spPr/>
        <p:txBody>
          <a:bodyPr/>
          <a:lstStyle/>
          <a:p>
            <a:r>
              <a:rPr lang="es-ES"/>
              <a:t> </a:t>
            </a:r>
          </a:p>
          <a:p>
            <a:endParaRPr lang="es-E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85800" y="0"/>
            <a:ext cx="7772400" cy="914400"/>
          </a:xfrm>
        </p:spPr>
        <p:txBody>
          <a:bodyPr>
            <a:normAutofit/>
          </a:bodyPr>
          <a:lstStyle/>
          <a:p>
            <a:r>
              <a:rPr lang="es-ES" sz="4000">
                <a:latin typeface="Verdana" pitchFamily="34" charset="0"/>
              </a:rPr>
              <a:t>Reglas del juego de la Vida</a:t>
            </a:r>
          </a:p>
        </p:txBody>
      </p:sp>
      <p:sp>
        <p:nvSpPr>
          <p:cNvPr id="5123" name="Rectangle 3"/>
          <p:cNvSpPr>
            <a:spLocks noGrp="1" noChangeArrowheads="1"/>
          </p:cNvSpPr>
          <p:nvPr>
            <p:ph idx="1"/>
          </p:nvPr>
        </p:nvSpPr>
        <p:spPr>
          <a:xfrm>
            <a:off x="304800" y="990600"/>
            <a:ext cx="8534400" cy="5562600"/>
          </a:xfrm>
        </p:spPr>
        <p:txBody>
          <a:bodyPr/>
          <a:lstStyle/>
          <a:p>
            <a:pPr marL="533400" indent="-533400" algn="just">
              <a:lnSpc>
                <a:spcPct val="90000"/>
              </a:lnSpc>
              <a:buSzPct val="70000"/>
              <a:buFontTx/>
              <a:buNone/>
            </a:pPr>
            <a:r>
              <a:rPr lang="es-ES_tradnl" sz="1800">
                <a:latin typeface="Verdana" pitchFamily="34" charset="0"/>
              </a:rPr>
              <a:t>La estructura del juego es una rejilla rectangular abierta, en la cual cada celdilla puede estar ocupada o no por un microorganismo. Las celdillas cambian de acuerdo con las siguientes reglas:</a:t>
            </a:r>
          </a:p>
          <a:p>
            <a:pPr marL="533400" indent="-533400" algn="just">
              <a:lnSpc>
                <a:spcPct val="90000"/>
              </a:lnSpc>
              <a:buSzPct val="70000"/>
            </a:pPr>
            <a:r>
              <a:rPr lang="es-ES" sz="1800">
                <a:latin typeface="Verdana" pitchFamily="34" charset="0"/>
              </a:rPr>
              <a:t>Los vecinos de una celda son los 8 que la tocan vertical, horizontal o diagonalmente.</a:t>
            </a:r>
          </a:p>
          <a:p>
            <a:pPr marL="533400" indent="-533400" algn="just">
              <a:lnSpc>
                <a:spcPct val="90000"/>
              </a:lnSpc>
              <a:buSzPct val="70000"/>
            </a:pPr>
            <a:r>
              <a:rPr lang="es-ES" sz="1800">
                <a:latin typeface="Verdana" pitchFamily="34" charset="0"/>
              </a:rPr>
              <a:t>Si una celdilla está viva pero no tiene celdillas vecinas vivas o solamente una viva, muere de soledad en la siguiente generación.</a:t>
            </a:r>
          </a:p>
          <a:p>
            <a:pPr marL="533400" indent="-533400" algn="just">
              <a:lnSpc>
                <a:spcPct val="90000"/>
              </a:lnSpc>
              <a:buSzPct val="70000"/>
            </a:pPr>
            <a:r>
              <a:rPr lang="es-ES" sz="1800">
                <a:latin typeface="Verdana" pitchFamily="34" charset="0"/>
              </a:rPr>
              <a:t>Si una celdilla está viva y tiene cuatro o más vecinas también vivas, en la siguiente generación muere por hacinamiento.</a:t>
            </a:r>
          </a:p>
          <a:p>
            <a:pPr marL="533400" indent="-533400" algn="just">
              <a:lnSpc>
                <a:spcPct val="90000"/>
              </a:lnSpc>
              <a:buSzPct val="70000"/>
            </a:pPr>
            <a:r>
              <a:rPr lang="es-ES" sz="1800">
                <a:latin typeface="Verdana" pitchFamily="34" charset="0"/>
              </a:rPr>
              <a:t>Una celdilla viva con dos o tres vecinas vivas permanece viva en la siguiente generación.</a:t>
            </a:r>
          </a:p>
          <a:p>
            <a:pPr marL="533400" indent="-533400" algn="just">
              <a:lnSpc>
                <a:spcPct val="90000"/>
              </a:lnSpc>
              <a:buSzPct val="70000"/>
            </a:pPr>
            <a:r>
              <a:rPr lang="es-ES" sz="1800">
                <a:latin typeface="Verdana" pitchFamily="34" charset="0"/>
              </a:rPr>
              <a:t>Si una celdilla está muerta, en la siguiente generación recuperará la vida si tiene exactamente tres vecinas, ni una más ni una menos, que ya estén vivas. Todas las otras celdillas muertas permanecen así en la siguiente generación.</a:t>
            </a:r>
          </a:p>
          <a:p>
            <a:pPr marL="533400" indent="-533400" algn="just">
              <a:lnSpc>
                <a:spcPct val="90000"/>
              </a:lnSpc>
              <a:buSzPct val="70000"/>
            </a:pPr>
            <a:r>
              <a:rPr lang="es-ES" sz="1800">
                <a:latin typeface="Verdana" pitchFamily="34" charset="0"/>
              </a:rPr>
              <a:t>Todos los nacimientos y muertes tienen lugar exactamente al mismo tiempo, de manera que las que mueren ayudan a producir otras; pero no pueden impedir la muerte de otras reduciendo el hacinamiento, ni las que nacen pueden preservar o destruir a las que tienen vida en la siguiente generación.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blinds(horizontal)">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blinds(horizontal)">
                                      <p:cBhvr>
                                        <p:cTn id="12" dur="500"/>
                                        <p:tgtEl>
                                          <p:spTgt spid="5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animEffect transition="in" filter="blinds(horizontal)">
                                      <p:cBhvr>
                                        <p:cTn id="17" dur="500"/>
                                        <p:tgtEl>
                                          <p:spTgt spid="51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123">
                                            <p:txEl>
                                              <p:pRg st="3" end="3"/>
                                            </p:txEl>
                                          </p:spTgt>
                                        </p:tgtEl>
                                        <p:attrNameLst>
                                          <p:attrName>style.visibility</p:attrName>
                                        </p:attrNameLst>
                                      </p:cBhvr>
                                      <p:to>
                                        <p:strVal val="visible"/>
                                      </p:to>
                                    </p:set>
                                    <p:animEffect transition="in" filter="blinds(horizontal)">
                                      <p:cBhvr>
                                        <p:cTn id="22" dur="500"/>
                                        <p:tgtEl>
                                          <p:spTgt spid="51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123">
                                            <p:txEl>
                                              <p:pRg st="4" end="4"/>
                                            </p:txEl>
                                          </p:spTgt>
                                        </p:tgtEl>
                                        <p:attrNameLst>
                                          <p:attrName>style.visibility</p:attrName>
                                        </p:attrNameLst>
                                      </p:cBhvr>
                                      <p:to>
                                        <p:strVal val="visible"/>
                                      </p:to>
                                    </p:set>
                                    <p:animEffect transition="in" filter="blinds(horizontal)">
                                      <p:cBhvr>
                                        <p:cTn id="27" dur="500"/>
                                        <p:tgtEl>
                                          <p:spTgt spid="512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123">
                                            <p:txEl>
                                              <p:pRg st="5" end="5"/>
                                            </p:txEl>
                                          </p:spTgt>
                                        </p:tgtEl>
                                        <p:attrNameLst>
                                          <p:attrName>style.visibility</p:attrName>
                                        </p:attrNameLst>
                                      </p:cBhvr>
                                      <p:to>
                                        <p:strVal val="visible"/>
                                      </p:to>
                                    </p:set>
                                    <p:animEffect transition="in" filter="blinds(horizontal)">
                                      <p:cBhvr>
                                        <p:cTn id="32" dur="500"/>
                                        <p:tgtEl>
                                          <p:spTgt spid="512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123">
                                            <p:txEl>
                                              <p:pRg st="6" end="6"/>
                                            </p:txEl>
                                          </p:spTgt>
                                        </p:tgtEl>
                                        <p:attrNameLst>
                                          <p:attrName>style.visibility</p:attrName>
                                        </p:attrNameLst>
                                      </p:cBhvr>
                                      <p:to>
                                        <p:strVal val="visible"/>
                                      </p:to>
                                    </p:set>
                                    <p:animEffect transition="in" filter="blinds(horizontal)">
                                      <p:cBhvr>
                                        <p:cTn id="37" dur="500"/>
                                        <p:tgtEl>
                                          <p:spTgt spid="512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85800" y="0"/>
            <a:ext cx="7772400" cy="914400"/>
          </a:xfrm>
        </p:spPr>
        <p:txBody>
          <a:bodyPr/>
          <a:lstStyle/>
          <a:p>
            <a:pPr algn="l"/>
            <a:r>
              <a:rPr lang="es-ES" sz="3200">
                <a:latin typeface="Verdana" pitchFamily="34" charset="0"/>
              </a:rPr>
              <a:t>Ejemplos</a:t>
            </a:r>
          </a:p>
        </p:txBody>
      </p:sp>
      <p:graphicFrame>
        <p:nvGraphicFramePr>
          <p:cNvPr id="6407" name="Group 263"/>
          <p:cNvGraphicFramePr>
            <a:graphicFrameLocks noGrp="1"/>
          </p:cNvGraphicFramePr>
          <p:nvPr/>
        </p:nvGraphicFramePr>
        <p:xfrm>
          <a:off x="533400" y="1143000"/>
          <a:ext cx="1828800" cy="1005840"/>
        </p:xfrm>
        <a:graphic>
          <a:graphicData uri="http://schemas.openxmlformats.org/drawingml/2006/table">
            <a:tbl>
              <a:tblPr/>
              <a:tblGrid>
                <a:gridCol w="304800"/>
                <a:gridCol w="304800"/>
                <a:gridCol w="304800"/>
                <a:gridCol w="304800"/>
                <a:gridCol w="304800"/>
                <a:gridCol w="304800"/>
              </a:tblGrid>
              <a:tr h="279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279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600" b="0" i="0" u="none" strike="noStrike" cap="none" normalizeH="0" baseline="0" smtClean="0">
                          <a:ln>
                            <a:noFill/>
                          </a:ln>
                          <a:solidFill>
                            <a:schemeClr val="tx1"/>
                          </a:solidFill>
                          <a:effectLst/>
                          <a:latin typeface="Times New Roman" pitchFamily="18" charset="0"/>
                          <a:cs typeface="Times New Roman" pitchFamily="18" charset="0"/>
                        </a:rPr>
                        <a:t>•</a:t>
                      </a:r>
                      <a:endParaRPr kumimoji="0" lang="es-ES"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600" b="0" i="0" u="none" strike="noStrike" cap="none" normalizeH="0" baseline="0" smtClean="0">
                          <a:ln>
                            <a:noFill/>
                          </a:ln>
                          <a:solidFill>
                            <a:schemeClr val="tx1"/>
                          </a:solidFill>
                          <a:effectLst/>
                          <a:latin typeface="Times New Roman" pitchFamily="18" charset="0"/>
                          <a:cs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9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graphicFrame>
        <p:nvGraphicFramePr>
          <p:cNvPr id="6580" name="Group 436"/>
          <p:cNvGraphicFramePr>
            <a:graphicFrameLocks noGrp="1"/>
          </p:cNvGraphicFramePr>
          <p:nvPr/>
        </p:nvGraphicFramePr>
        <p:xfrm>
          <a:off x="533400" y="2590800"/>
          <a:ext cx="1828800" cy="1341120"/>
        </p:xfrm>
        <a:graphic>
          <a:graphicData uri="http://schemas.openxmlformats.org/drawingml/2006/table">
            <a:tbl>
              <a:tblPr/>
              <a:tblGrid>
                <a:gridCol w="304800"/>
                <a:gridCol w="304800"/>
                <a:gridCol w="304800"/>
                <a:gridCol w="304800"/>
                <a:gridCol w="304800"/>
                <a:gridCol w="304800"/>
              </a:tblGrid>
              <a:tr h="279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279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600" b="0" i="0" u="none" strike="noStrike" cap="none" normalizeH="0" baseline="0" smtClean="0">
                          <a:ln>
                            <a:noFill/>
                          </a:ln>
                          <a:solidFill>
                            <a:schemeClr val="tx1"/>
                          </a:solidFill>
                          <a:effectLst/>
                          <a:latin typeface="Times New Roman" pitchFamily="18" charset="0"/>
                          <a:cs typeface="Times New Roman" pitchFamily="18" charset="0"/>
                        </a:rPr>
                        <a:t>•</a:t>
                      </a:r>
                      <a:endParaRPr kumimoji="0" lang="es-ES"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600" b="0" i="0" u="none" strike="noStrike" cap="none" normalizeH="0" baseline="0" smtClean="0">
                          <a:ln>
                            <a:noFill/>
                          </a:ln>
                          <a:solidFill>
                            <a:schemeClr val="tx1"/>
                          </a:solidFill>
                          <a:effectLst/>
                          <a:latin typeface="Times New Roman" pitchFamily="18" charset="0"/>
                          <a:cs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600" b="0" i="0" u="none" strike="noStrike" cap="none" normalizeH="0" baseline="0" smtClean="0">
                          <a:ln>
                            <a:noFill/>
                          </a:ln>
                          <a:solidFill>
                            <a:schemeClr val="tx1"/>
                          </a:solidFill>
                          <a:effectLst/>
                          <a:latin typeface="Times New Roman" pitchFamily="18" charset="0"/>
                          <a:cs typeface="Times New Roman" pitchFamily="18" charset="0"/>
                        </a:rPr>
                        <a:t>•</a:t>
                      </a:r>
                      <a:endParaRPr kumimoji="0" lang="es-ES"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600" b="0" i="0" u="none" strike="noStrike" cap="none" normalizeH="0" baseline="0" smtClean="0">
                          <a:ln>
                            <a:noFill/>
                          </a:ln>
                          <a:solidFill>
                            <a:schemeClr val="tx1"/>
                          </a:solidFill>
                          <a:effectLst/>
                          <a:latin typeface="Times New Roman" pitchFamily="18" charset="0"/>
                          <a:cs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9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graphicFrame>
        <p:nvGraphicFramePr>
          <p:cNvPr id="6689" name="Group 545"/>
          <p:cNvGraphicFramePr>
            <a:graphicFrameLocks noGrp="1"/>
          </p:cNvGraphicFramePr>
          <p:nvPr/>
        </p:nvGraphicFramePr>
        <p:xfrm>
          <a:off x="533400" y="4343400"/>
          <a:ext cx="1828800" cy="1676400"/>
        </p:xfrm>
        <a:graphic>
          <a:graphicData uri="http://schemas.openxmlformats.org/drawingml/2006/table">
            <a:tbl>
              <a:tblPr/>
              <a:tblGrid>
                <a:gridCol w="304800"/>
                <a:gridCol w="304800"/>
                <a:gridCol w="304800"/>
                <a:gridCol w="304800"/>
                <a:gridCol w="304800"/>
                <a:gridCol w="304800"/>
              </a:tblGrid>
              <a:tr h="279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279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600" b="0" i="0" u="none" strike="noStrike" cap="none" normalizeH="0" baseline="0" smtClean="0">
                          <a:ln>
                            <a:noFill/>
                          </a:ln>
                          <a:solidFill>
                            <a:schemeClr val="tx1"/>
                          </a:solidFill>
                          <a:effectLst/>
                          <a:latin typeface="Times New Roman" pitchFamily="18" charset="0"/>
                          <a:cs typeface="Times New Roman" pitchFamily="18" charset="0"/>
                        </a:rPr>
                        <a:t>•</a:t>
                      </a:r>
                      <a:endParaRPr kumimoji="0" lang="es-ES"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600" b="0" i="0" u="none" strike="noStrike" cap="none" normalizeH="0" baseline="0" smtClean="0">
                          <a:ln>
                            <a:noFill/>
                          </a:ln>
                          <a:solidFill>
                            <a:schemeClr val="tx1"/>
                          </a:solidFill>
                          <a:effectLst/>
                          <a:latin typeface="Times New Roman" pitchFamily="18" charset="0"/>
                          <a:cs typeface="Times New Roman" pitchFamily="18" charset="0"/>
                        </a:rPr>
                        <a:t>•</a:t>
                      </a:r>
                      <a:endParaRPr kumimoji="0" lang="es-ES"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600" b="0" i="0" u="none" strike="noStrike" cap="none" normalizeH="0" baseline="0" smtClean="0">
                          <a:ln>
                            <a:noFill/>
                          </a:ln>
                          <a:solidFill>
                            <a:schemeClr val="tx1"/>
                          </a:solidFill>
                          <a:effectLst/>
                          <a:latin typeface="Times New Roman" pitchFamily="18" charset="0"/>
                          <a:cs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9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sp>
        <p:nvSpPr>
          <p:cNvPr id="6283" name="Text Box 139"/>
          <p:cNvSpPr txBox="1">
            <a:spLocks noChangeArrowheads="1"/>
          </p:cNvSpPr>
          <p:nvPr/>
        </p:nvSpPr>
        <p:spPr bwMode="auto">
          <a:xfrm>
            <a:off x="2667000" y="1219200"/>
            <a:ext cx="6477000" cy="701675"/>
          </a:xfrm>
          <a:prstGeom prst="rect">
            <a:avLst/>
          </a:prstGeom>
          <a:noFill/>
          <a:ln w="9525">
            <a:noFill/>
            <a:miter lim="800000"/>
            <a:headEnd/>
            <a:tailEnd/>
          </a:ln>
          <a:effectLst/>
        </p:spPr>
        <p:txBody>
          <a:bodyPr>
            <a:spAutoFit/>
          </a:bodyPr>
          <a:lstStyle/>
          <a:p>
            <a:pPr>
              <a:spcBef>
                <a:spcPct val="50000"/>
              </a:spcBef>
            </a:pPr>
            <a:r>
              <a:rPr lang="es-ES" sz="2000">
                <a:latin typeface="Verdana" pitchFamily="34" charset="0"/>
              </a:rPr>
              <a:t>Esta comunidad se extingue en la próxima generación.</a:t>
            </a:r>
          </a:p>
        </p:txBody>
      </p:sp>
      <p:sp>
        <p:nvSpPr>
          <p:cNvPr id="6284" name="Text Box 140"/>
          <p:cNvSpPr txBox="1">
            <a:spLocks noChangeArrowheads="1"/>
          </p:cNvSpPr>
          <p:nvPr/>
        </p:nvSpPr>
        <p:spPr bwMode="auto">
          <a:xfrm>
            <a:off x="2667000" y="2895600"/>
            <a:ext cx="6477000" cy="396875"/>
          </a:xfrm>
          <a:prstGeom prst="rect">
            <a:avLst/>
          </a:prstGeom>
          <a:noFill/>
          <a:ln w="9525">
            <a:noFill/>
            <a:miter lim="800000"/>
            <a:headEnd/>
            <a:tailEnd/>
          </a:ln>
          <a:effectLst/>
        </p:spPr>
        <p:txBody>
          <a:bodyPr>
            <a:spAutoFit/>
          </a:bodyPr>
          <a:lstStyle/>
          <a:p>
            <a:pPr>
              <a:spcBef>
                <a:spcPct val="50000"/>
              </a:spcBef>
            </a:pPr>
            <a:r>
              <a:rPr lang="es-ES" sz="2000">
                <a:latin typeface="Verdana" pitchFamily="34" charset="0"/>
              </a:rPr>
              <a:t>Esta comunidad nunca cambiará</a:t>
            </a:r>
          </a:p>
        </p:txBody>
      </p:sp>
      <p:sp>
        <p:nvSpPr>
          <p:cNvPr id="6285" name="Text Box 141"/>
          <p:cNvSpPr txBox="1">
            <a:spLocks noChangeArrowheads="1"/>
          </p:cNvSpPr>
          <p:nvPr/>
        </p:nvSpPr>
        <p:spPr bwMode="auto">
          <a:xfrm>
            <a:off x="2667000" y="4800600"/>
            <a:ext cx="3581400" cy="1006475"/>
          </a:xfrm>
          <a:prstGeom prst="rect">
            <a:avLst/>
          </a:prstGeom>
          <a:noFill/>
          <a:ln w="9525">
            <a:noFill/>
            <a:miter lim="800000"/>
            <a:headEnd/>
            <a:tailEnd/>
          </a:ln>
          <a:effectLst/>
        </p:spPr>
        <p:txBody>
          <a:bodyPr>
            <a:spAutoFit/>
          </a:bodyPr>
          <a:lstStyle/>
          <a:p>
            <a:pPr algn="ctr">
              <a:spcBef>
                <a:spcPct val="50000"/>
              </a:spcBef>
            </a:pPr>
            <a:r>
              <a:rPr lang="es-ES" sz="2000">
                <a:latin typeface="Verdana" pitchFamily="34" charset="0"/>
              </a:rPr>
              <a:t>Esta comunidad se alternará por todas las generaciones</a:t>
            </a:r>
          </a:p>
        </p:txBody>
      </p:sp>
      <p:graphicFrame>
        <p:nvGraphicFramePr>
          <p:cNvPr id="6798" name="Group 654"/>
          <p:cNvGraphicFramePr>
            <a:graphicFrameLocks noGrp="1"/>
          </p:cNvGraphicFramePr>
          <p:nvPr/>
        </p:nvGraphicFramePr>
        <p:xfrm>
          <a:off x="6553200" y="4343400"/>
          <a:ext cx="1828800" cy="1676400"/>
        </p:xfrm>
        <a:graphic>
          <a:graphicData uri="http://schemas.openxmlformats.org/drawingml/2006/table">
            <a:tbl>
              <a:tblPr/>
              <a:tblGrid>
                <a:gridCol w="304800"/>
                <a:gridCol w="304800"/>
                <a:gridCol w="304800"/>
                <a:gridCol w="304800"/>
                <a:gridCol w="304800"/>
                <a:gridCol w="304800"/>
              </a:tblGrid>
              <a:tr h="279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279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600" b="0" i="0" u="none" strike="noStrike" cap="none" normalizeH="0" baseline="0" smtClean="0">
                          <a:ln>
                            <a:noFill/>
                          </a:ln>
                          <a:solidFill>
                            <a:schemeClr val="tx1"/>
                          </a:solidFill>
                          <a:effectLst/>
                          <a:latin typeface="Times New Roman" pitchFamily="18" charset="0"/>
                          <a:cs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600" b="0" i="0" u="none" strike="noStrike" cap="none" normalizeH="0" baseline="0" smtClean="0">
                          <a:ln>
                            <a:noFill/>
                          </a:ln>
                          <a:solidFill>
                            <a:schemeClr val="tx1"/>
                          </a:solidFill>
                          <a:effectLst/>
                          <a:latin typeface="Times New Roman" pitchFamily="18" charset="0"/>
                          <a:cs typeface="Times New Roman" pitchFamily="18" charset="0"/>
                        </a:rPr>
                        <a:t>•</a:t>
                      </a:r>
                      <a:endParaRPr kumimoji="0" lang="es-ES"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 sz="1600" b="0" i="0" u="none" strike="noStrike" cap="none" normalizeH="0" baseline="0" smtClean="0">
                          <a:ln>
                            <a:noFill/>
                          </a:ln>
                          <a:solidFill>
                            <a:schemeClr val="tx1"/>
                          </a:solidFill>
                          <a:effectLst/>
                          <a:latin typeface="Times New Roman" pitchFamily="18" charset="0"/>
                          <a:cs typeface="Times New Roman"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9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407"/>
                                        </p:tgtEl>
                                        <p:attrNameLst>
                                          <p:attrName>style.visibility</p:attrName>
                                        </p:attrNameLst>
                                      </p:cBhvr>
                                      <p:to>
                                        <p:strVal val="visible"/>
                                      </p:to>
                                    </p:set>
                                    <p:anim calcmode="lin" valueType="num">
                                      <p:cBhvr additive="base">
                                        <p:cTn id="7" dur="500" fill="hold"/>
                                        <p:tgtEl>
                                          <p:spTgt spid="6407"/>
                                        </p:tgtEl>
                                        <p:attrNameLst>
                                          <p:attrName>ppt_x</p:attrName>
                                        </p:attrNameLst>
                                      </p:cBhvr>
                                      <p:tavLst>
                                        <p:tav tm="0">
                                          <p:val>
                                            <p:strVal val="0-#ppt_w/2"/>
                                          </p:val>
                                        </p:tav>
                                        <p:tav tm="100000">
                                          <p:val>
                                            <p:strVal val="#ppt_x"/>
                                          </p:val>
                                        </p:tav>
                                      </p:tavLst>
                                    </p:anim>
                                    <p:anim calcmode="lin" valueType="num">
                                      <p:cBhvr additive="base">
                                        <p:cTn id="8" dur="500" fill="hold"/>
                                        <p:tgtEl>
                                          <p:spTgt spid="640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283"/>
                                        </p:tgtEl>
                                        <p:attrNameLst>
                                          <p:attrName>style.visibility</p:attrName>
                                        </p:attrNameLst>
                                      </p:cBhvr>
                                      <p:to>
                                        <p:strVal val="visible"/>
                                      </p:to>
                                    </p:set>
                                    <p:anim calcmode="lin" valueType="num">
                                      <p:cBhvr additive="base">
                                        <p:cTn id="12" dur="500" fill="hold"/>
                                        <p:tgtEl>
                                          <p:spTgt spid="6283"/>
                                        </p:tgtEl>
                                        <p:attrNameLst>
                                          <p:attrName>ppt_x</p:attrName>
                                        </p:attrNameLst>
                                      </p:cBhvr>
                                      <p:tavLst>
                                        <p:tav tm="0">
                                          <p:val>
                                            <p:strVal val="0-#ppt_w/2"/>
                                          </p:val>
                                        </p:tav>
                                        <p:tav tm="100000">
                                          <p:val>
                                            <p:strVal val="#ppt_x"/>
                                          </p:val>
                                        </p:tav>
                                      </p:tavLst>
                                    </p:anim>
                                    <p:anim calcmode="lin" valueType="num">
                                      <p:cBhvr additive="base">
                                        <p:cTn id="13" dur="500" fill="hold"/>
                                        <p:tgtEl>
                                          <p:spTgt spid="628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6580"/>
                                        </p:tgtEl>
                                        <p:attrNameLst>
                                          <p:attrName>style.visibility</p:attrName>
                                        </p:attrNameLst>
                                      </p:cBhvr>
                                      <p:to>
                                        <p:strVal val="visible"/>
                                      </p:to>
                                    </p:set>
                                    <p:anim calcmode="lin" valueType="num">
                                      <p:cBhvr additive="base">
                                        <p:cTn id="18" dur="500" fill="hold"/>
                                        <p:tgtEl>
                                          <p:spTgt spid="6580"/>
                                        </p:tgtEl>
                                        <p:attrNameLst>
                                          <p:attrName>ppt_x</p:attrName>
                                        </p:attrNameLst>
                                      </p:cBhvr>
                                      <p:tavLst>
                                        <p:tav tm="0">
                                          <p:val>
                                            <p:strVal val="0-#ppt_w/2"/>
                                          </p:val>
                                        </p:tav>
                                        <p:tav tm="100000">
                                          <p:val>
                                            <p:strVal val="#ppt_x"/>
                                          </p:val>
                                        </p:tav>
                                      </p:tavLst>
                                    </p:anim>
                                    <p:anim calcmode="lin" valueType="num">
                                      <p:cBhvr additive="base">
                                        <p:cTn id="19" dur="500" fill="hold"/>
                                        <p:tgtEl>
                                          <p:spTgt spid="6580"/>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2" presetClass="entr" presetSubtype="8" fill="hold" grpId="0" nodeType="afterEffect">
                                  <p:stCondLst>
                                    <p:cond delay="0"/>
                                  </p:stCondLst>
                                  <p:childTnLst>
                                    <p:set>
                                      <p:cBhvr>
                                        <p:cTn id="22" dur="1" fill="hold">
                                          <p:stCondLst>
                                            <p:cond delay="0"/>
                                          </p:stCondLst>
                                        </p:cTn>
                                        <p:tgtEl>
                                          <p:spTgt spid="6284"/>
                                        </p:tgtEl>
                                        <p:attrNameLst>
                                          <p:attrName>style.visibility</p:attrName>
                                        </p:attrNameLst>
                                      </p:cBhvr>
                                      <p:to>
                                        <p:strVal val="visible"/>
                                      </p:to>
                                    </p:set>
                                    <p:anim calcmode="lin" valueType="num">
                                      <p:cBhvr additive="base">
                                        <p:cTn id="23" dur="500" fill="hold"/>
                                        <p:tgtEl>
                                          <p:spTgt spid="6284"/>
                                        </p:tgtEl>
                                        <p:attrNameLst>
                                          <p:attrName>ppt_x</p:attrName>
                                        </p:attrNameLst>
                                      </p:cBhvr>
                                      <p:tavLst>
                                        <p:tav tm="0">
                                          <p:val>
                                            <p:strVal val="0-#ppt_w/2"/>
                                          </p:val>
                                        </p:tav>
                                        <p:tav tm="100000">
                                          <p:val>
                                            <p:strVal val="#ppt_x"/>
                                          </p:val>
                                        </p:tav>
                                      </p:tavLst>
                                    </p:anim>
                                    <p:anim calcmode="lin" valueType="num">
                                      <p:cBhvr additive="base">
                                        <p:cTn id="24" dur="500" fill="hold"/>
                                        <p:tgtEl>
                                          <p:spTgt spid="6284"/>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6689"/>
                                        </p:tgtEl>
                                        <p:attrNameLst>
                                          <p:attrName>style.visibility</p:attrName>
                                        </p:attrNameLst>
                                      </p:cBhvr>
                                      <p:to>
                                        <p:strVal val="visible"/>
                                      </p:to>
                                    </p:set>
                                    <p:anim calcmode="lin" valueType="num">
                                      <p:cBhvr additive="base">
                                        <p:cTn id="29" dur="500" fill="hold"/>
                                        <p:tgtEl>
                                          <p:spTgt spid="6689"/>
                                        </p:tgtEl>
                                        <p:attrNameLst>
                                          <p:attrName>ppt_x</p:attrName>
                                        </p:attrNameLst>
                                      </p:cBhvr>
                                      <p:tavLst>
                                        <p:tav tm="0">
                                          <p:val>
                                            <p:strVal val="0-#ppt_w/2"/>
                                          </p:val>
                                        </p:tav>
                                        <p:tav tm="100000">
                                          <p:val>
                                            <p:strVal val="#ppt_x"/>
                                          </p:val>
                                        </p:tav>
                                      </p:tavLst>
                                    </p:anim>
                                    <p:anim calcmode="lin" valueType="num">
                                      <p:cBhvr additive="base">
                                        <p:cTn id="30" dur="500" fill="hold"/>
                                        <p:tgtEl>
                                          <p:spTgt spid="6689"/>
                                        </p:tgtEl>
                                        <p:attrNameLst>
                                          <p:attrName>ppt_y</p:attrName>
                                        </p:attrNameLst>
                                      </p:cBhvr>
                                      <p:tavLst>
                                        <p:tav tm="0">
                                          <p:val>
                                            <p:strVal val="#ppt_y"/>
                                          </p:val>
                                        </p:tav>
                                        <p:tav tm="100000">
                                          <p:val>
                                            <p:strVal val="#ppt_y"/>
                                          </p:val>
                                        </p:tav>
                                      </p:tavLst>
                                    </p:anim>
                                  </p:childTnLst>
                                </p:cTn>
                              </p:par>
                            </p:childTnLst>
                          </p:cTn>
                        </p:par>
                        <p:par>
                          <p:cTn id="31" fill="hold">
                            <p:stCondLst>
                              <p:cond delay="500"/>
                            </p:stCondLst>
                            <p:childTnLst>
                              <p:par>
                                <p:cTn id="32" presetID="2" presetClass="entr" presetSubtype="8" fill="hold" grpId="0" nodeType="afterEffect">
                                  <p:stCondLst>
                                    <p:cond delay="0"/>
                                  </p:stCondLst>
                                  <p:childTnLst>
                                    <p:set>
                                      <p:cBhvr>
                                        <p:cTn id="33" dur="1" fill="hold">
                                          <p:stCondLst>
                                            <p:cond delay="0"/>
                                          </p:stCondLst>
                                        </p:cTn>
                                        <p:tgtEl>
                                          <p:spTgt spid="6285"/>
                                        </p:tgtEl>
                                        <p:attrNameLst>
                                          <p:attrName>style.visibility</p:attrName>
                                        </p:attrNameLst>
                                      </p:cBhvr>
                                      <p:to>
                                        <p:strVal val="visible"/>
                                      </p:to>
                                    </p:set>
                                    <p:anim calcmode="lin" valueType="num">
                                      <p:cBhvr additive="base">
                                        <p:cTn id="34" dur="500" fill="hold"/>
                                        <p:tgtEl>
                                          <p:spTgt spid="6285"/>
                                        </p:tgtEl>
                                        <p:attrNameLst>
                                          <p:attrName>ppt_x</p:attrName>
                                        </p:attrNameLst>
                                      </p:cBhvr>
                                      <p:tavLst>
                                        <p:tav tm="0">
                                          <p:val>
                                            <p:strVal val="0-#ppt_w/2"/>
                                          </p:val>
                                        </p:tav>
                                        <p:tav tm="100000">
                                          <p:val>
                                            <p:strVal val="#ppt_x"/>
                                          </p:val>
                                        </p:tav>
                                      </p:tavLst>
                                    </p:anim>
                                    <p:anim calcmode="lin" valueType="num">
                                      <p:cBhvr additive="base">
                                        <p:cTn id="35" dur="500" fill="hold"/>
                                        <p:tgtEl>
                                          <p:spTgt spid="6285"/>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nodeType="clickEffect">
                                  <p:stCondLst>
                                    <p:cond delay="0"/>
                                  </p:stCondLst>
                                  <p:childTnLst>
                                    <p:set>
                                      <p:cBhvr>
                                        <p:cTn id="39" dur="1" fill="hold">
                                          <p:stCondLst>
                                            <p:cond delay="0"/>
                                          </p:stCondLst>
                                        </p:cTn>
                                        <p:tgtEl>
                                          <p:spTgt spid="6798"/>
                                        </p:tgtEl>
                                        <p:attrNameLst>
                                          <p:attrName>style.visibility</p:attrName>
                                        </p:attrNameLst>
                                      </p:cBhvr>
                                      <p:to>
                                        <p:strVal val="visible"/>
                                      </p:to>
                                    </p:set>
                                    <p:anim calcmode="lin" valueType="num">
                                      <p:cBhvr additive="base">
                                        <p:cTn id="40" dur="500" fill="hold"/>
                                        <p:tgtEl>
                                          <p:spTgt spid="6798"/>
                                        </p:tgtEl>
                                        <p:attrNameLst>
                                          <p:attrName>ppt_x</p:attrName>
                                        </p:attrNameLst>
                                      </p:cBhvr>
                                      <p:tavLst>
                                        <p:tav tm="0">
                                          <p:val>
                                            <p:strVal val="0-#ppt_w/2"/>
                                          </p:val>
                                        </p:tav>
                                        <p:tav tm="100000">
                                          <p:val>
                                            <p:strVal val="#ppt_x"/>
                                          </p:val>
                                        </p:tav>
                                      </p:tavLst>
                                    </p:anim>
                                    <p:anim calcmode="lin" valueType="num">
                                      <p:cBhvr additive="base">
                                        <p:cTn id="41" dur="500" fill="hold"/>
                                        <p:tgtEl>
                                          <p:spTgt spid="67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83" grpId="0" autoUpdateAnimBg="0"/>
      <p:bldP spid="6284" grpId="0" autoUpdateAnimBg="0"/>
      <p:bldP spid="6285"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5800" y="0"/>
            <a:ext cx="7772400" cy="914400"/>
          </a:xfrm>
        </p:spPr>
        <p:txBody>
          <a:bodyPr/>
          <a:lstStyle/>
          <a:p>
            <a:pPr algn="l"/>
            <a:r>
              <a:rPr lang="es-ES_tradnl" sz="3200">
                <a:latin typeface="Verdana" pitchFamily="34" charset="0"/>
              </a:rPr>
              <a:t>Secuencia de un comunidad</a:t>
            </a:r>
            <a:endParaRPr lang="es-ES" sz="3200">
              <a:latin typeface="Verdana" pitchFamily="34" charset="0"/>
            </a:endParaRPr>
          </a:p>
        </p:txBody>
      </p:sp>
      <p:graphicFrame>
        <p:nvGraphicFramePr>
          <p:cNvPr id="8082" name="Group 914"/>
          <p:cNvGraphicFramePr>
            <a:graphicFrameLocks noGrp="1"/>
          </p:cNvGraphicFramePr>
          <p:nvPr/>
        </p:nvGraphicFramePr>
        <p:xfrm>
          <a:off x="685800" y="990600"/>
          <a:ext cx="1752600" cy="1950720"/>
        </p:xfrm>
        <a:graphic>
          <a:graphicData uri="http://schemas.openxmlformats.org/drawingml/2006/table">
            <a:tbl>
              <a:tblPr/>
              <a:tblGrid>
                <a:gridCol w="219075"/>
                <a:gridCol w="219075"/>
                <a:gridCol w="219075"/>
                <a:gridCol w="219075"/>
                <a:gridCol w="219075"/>
                <a:gridCol w="219075"/>
                <a:gridCol w="219075"/>
                <a:gridCol w="219075"/>
              </a:tblGrid>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graphicFrame>
        <p:nvGraphicFramePr>
          <p:cNvPr id="15490" name="Group 1154"/>
          <p:cNvGraphicFramePr>
            <a:graphicFrameLocks noGrp="1"/>
          </p:cNvGraphicFramePr>
          <p:nvPr/>
        </p:nvGraphicFramePr>
        <p:xfrm>
          <a:off x="3657600" y="990600"/>
          <a:ext cx="1752600" cy="1950720"/>
        </p:xfrm>
        <a:graphic>
          <a:graphicData uri="http://schemas.openxmlformats.org/drawingml/2006/table">
            <a:tbl>
              <a:tblPr/>
              <a:tblGrid>
                <a:gridCol w="219075"/>
                <a:gridCol w="219075"/>
                <a:gridCol w="219075"/>
                <a:gridCol w="219075"/>
                <a:gridCol w="219075"/>
                <a:gridCol w="219075"/>
                <a:gridCol w="219075"/>
                <a:gridCol w="219075"/>
              </a:tblGrid>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graphicFrame>
        <p:nvGraphicFramePr>
          <p:cNvPr id="15730" name="Group 1394"/>
          <p:cNvGraphicFramePr>
            <a:graphicFrameLocks noGrp="1"/>
          </p:cNvGraphicFramePr>
          <p:nvPr/>
        </p:nvGraphicFramePr>
        <p:xfrm>
          <a:off x="6781800" y="990600"/>
          <a:ext cx="1752600" cy="1950720"/>
        </p:xfrm>
        <a:graphic>
          <a:graphicData uri="http://schemas.openxmlformats.org/drawingml/2006/table">
            <a:tbl>
              <a:tblPr/>
              <a:tblGrid>
                <a:gridCol w="219075"/>
                <a:gridCol w="219075"/>
                <a:gridCol w="219075"/>
                <a:gridCol w="219075"/>
                <a:gridCol w="219075"/>
                <a:gridCol w="219075"/>
                <a:gridCol w="219075"/>
                <a:gridCol w="219075"/>
              </a:tblGrid>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graphicFrame>
        <p:nvGraphicFramePr>
          <p:cNvPr id="15970" name="Group 1634"/>
          <p:cNvGraphicFramePr>
            <a:graphicFrameLocks noGrp="1"/>
          </p:cNvGraphicFramePr>
          <p:nvPr/>
        </p:nvGraphicFramePr>
        <p:xfrm>
          <a:off x="685800" y="3581400"/>
          <a:ext cx="1752600" cy="1950720"/>
        </p:xfrm>
        <a:graphic>
          <a:graphicData uri="http://schemas.openxmlformats.org/drawingml/2006/table">
            <a:tbl>
              <a:tblPr/>
              <a:tblGrid>
                <a:gridCol w="219075"/>
                <a:gridCol w="219075"/>
                <a:gridCol w="219075"/>
                <a:gridCol w="219075"/>
                <a:gridCol w="219075"/>
                <a:gridCol w="219075"/>
                <a:gridCol w="219075"/>
                <a:gridCol w="219075"/>
              </a:tblGrid>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graphicFrame>
        <p:nvGraphicFramePr>
          <p:cNvPr id="16210" name="Group 1874"/>
          <p:cNvGraphicFramePr>
            <a:graphicFrameLocks noGrp="1"/>
          </p:cNvGraphicFramePr>
          <p:nvPr/>
        </p:nvGraphicFramePr>
        <p:xfrm>
          <a:off x="3657600" y="3581400"/>
          <a:ext cx="1752600" cy="1950720"/>
        </p:xfrm>
        <a:graphic>
          <a:graphicData uri="http://schemas.openxmlformats.org/drawingml/2006/table">
            <a:tbl>
              <a:tblPr/>
              <a:tblGrid>
                <a:gridCol w="219075"/>
                <a:gridCol w="219075"/>
                <a:gridCol w="219075"/>
                <a:gridCol w="219075"/>
                <a:gridCol w="219075"/>
                <a:gridCol w="219075"/>
                <a:gridCol w="219075"/>
                <a:gridCol w="219075"/>
              </a:tblGrid>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graphicFrame>
        <p:nvGraphicFramePr>
          <p:cNvPr id="16450" name="Group 2114"/>
          <p:cNvGraphicFramePr>
            <a:graphicFrameLocks noGrp="1"/>
          </p:cNvGraphicFramePr>
          <p:nvPr/>
        </p:nvGraphicFramePr>
        <p:xfrm>
          <a:off x="6781800" y="3581400"/>
          <a:ext cx="1752600" cy="1950720"/>
        </p:xfrm>
        <a:graphic>
          <a:graphicData uri="http://schemas.openxmlformats.org/drawingml/2006/table">
            <a:tbl>
              <a:tblPr/>
              <a:tblGrid>
                <a:gridCol w="219075"/>
                <a:gridCol w="219075"/>
                <a:gridCol w="219075"/>
                <a:gridCol w="219075"/>
                <a:gridCol w="219075"/>
                <a:gridCol w="219075"/>
                <a:gridCol w="219075"/>
                <a:gridCol w="219075"/>
              </a:tblGrid>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 sz="900" b="0" i="0" u="none" strike="noStrike" cap="none" normalizeH="0" baseline="0" smtClean="0">
                          <a:ln>
                            <a:noFill/>
                          </a:ln>
                          <a:solidFill>
                            <a:schemeClr val="tx1"/>
                          </a:solidFill>
                          <a:effectLst/>
                          <a:latin typeface="Verdana" pitchFamily="34"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5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000" b="0" i="0" u="none" strike="noStrike" cap="none" normalizeH="0" baseline="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sp>
        <p:nvSpPr>
          <p:cNvPr id="7837" name="Text Box 669"/>
          <p:cNvSpPr txBox="1">
            <a:spLocks noChangeArrowheads="1"/>
          </p:cNvSpPr>
          <p:nvPr/>
        </p:nvSpPr>
        <p:spPr bwMode="auto">
          <a:xfrm>
            <a:off x="152400" y="1066800"/>
            <a:ext cx="381000" cy="457200"/>
          </a:xfrm>
          <a:prstGeom prst="rect">
            <a:avLst/>
          </a:prstGeom>
          <a:noFill/>
          <a:ln w="9525">
            <a:noFill/>
            <a:miter lim="800000"/>
            <a:headEnd/>
            <a:tailEnd/>
          </a:ln>
          <a:effectLst/>
        </p:spPr>
        <p:txBody>
          <a:bodyPr>
            <a:spAutoFit/>
          </a:bodyPr>
          <a:lstStyle/>
          <a:p>
            <a:pPr>
              <a:spcBef>
                <a:spcPct val="50000"/>
              </a:spcBef>
            </a:pPr>
            <a:r>
              <a:rPr lang="es-ES_tradnl">
                <a:latin typeface="Verdana" pitchFamily="34" charset="0"/>
              </a:rPr>
              <a:t>1</a:t>
            </a:r>
            <a:endParaRPr lang="es-ES">
              <a:latin typeface="Verdana" pitchFamily="34" charset="0"/>
            </a:endParaRPr>
          </a:p>
        </p:txBody>
      </p:sp>
      <p:sp>
        <p:nvSpPr>
          <p:cNvPr id="7838" name="Text Box 670"/>
          <p:cNvSpPr txBox="1">
            <a:spLocks noChangeArrowheads="1"/>
          </p:cNvSpPr>
          <p:nvPr/>
        </p:nvSpPr>
        <p:spPr bwMode="auto">
          <a:xfrm>
            <a:off x="3124200" y="1066800"/>
            <a:ext cx="381000" cy="457200"/>
          </a:xfrm>
          <a:prstGeom prst="rect">
            <a:avLst/>
          </a:prstGeom>
          <a:noFill/>
          <a:ln w="9525">
            <a:noFill/>
            <a:miter lim="800000"/>
            <a:headEnd/>
            <a:tailEnd/>
          </a:ln>
          <a:effectLst/>
        </p:spPr>
        <p:txBody>
          <a:bodyPr>
            <a:spAutoFit/>
          </a:bodyPr>
          <a:lstStyle/>
          <a:p>
            <a:pPr>
              <a:spcBef>
                <a:spcPct val="50000"/>
              </a:spcBef>
            </a:pPr>
            <a:r>
              <a:rPr lang="es-ES_tradnl">
                <a:latin typeface="Verdana" pitchFamily="34" charset="0"/>
              </a:rPr>
              <a:t>2</a:t>
            </a:r>
            <a:endParaRPr lang="es-ES">
              <a:latin typeface="Verdana" pitchFamily="34" charset="0"/>
            </a:endParaRPr>
          </a:p>
        </p:txBody>
      </p:sp>
      <p:sp>
        <p:nvSpPr>
          <p:cNvPr id="7839" name="Text Box 671"/>
          <p:cNvSpPr txBox="1">
            <a:spLocks noChangeArrowheads="1"/>
          </p:cNvSpPr>
          <p:nvPr/>
        </p:nvSpPr>
        <p:spPr bwMode="auto">
          <a:xfrm>
            <a:off x="6324600" y="1066800"/>
            <a:ext cx="381000" cy="457200"/>
          </a:xfrm>
          <a:prstGeom prst="rect">
            <a:avLst/>
          </a:prstGeom>
          <a:noFill/>
          <a:ln w="9525">
            <a:noFill/>
            <a:miter lim="800000"/>
            <a:headEnd/>
            <a:tailEnd/>
          </a:ln>
          <a:effectLst/>
        </p:spPr>
        <p:txBody>
          <a:bodyPr>
            <a:spAutoFit/>
          </a:bodyPr>
          <a:lstStyle/>
          <a:p>
            <a:pPr>
              <a:spcBef>
                <a:spcPct val="50000"/>
              </a:spcBef>
            </a:pPr>
            <a:r>
              <a:rPr lang="es-ES_tradnl">
                <a:latin typeface="Verdana" pitchFamily="34" charset="0"/>
              </a:rPr>
              <a:t>3</a:t>
            </a:r>
            <a:endParaRPr lang="es-ES">
              <a:latin typeface="Verdana" pitchFamily="34" charset="0"/>
            </a:endParaRPr>
          </a:p>
        </p:txBody>
      </p:sp>
      <p:sp>
        <p:nvSpPr>
          <p:cNvPr id="7840" name="Text Box 672"/>
          <p:cNvSpPr txBox="1">
            <a:spLocks noChangeArrowheads="1"/>
          </p:cNvSpPr>
          <p:nvPr/>
        </p:nvSpPr>
        <p:spPr bwMode="auto">
          <a:xfrm>
            <a:off x="228600" y="3581400"/>
            <a:ext cx="381000" cy="457200"/>
          </a:xfrm>
          <a:prstGeom prst="rect">
            <a:avLst/>
          </a:prstGeom>
          <a:noFill/>
          <a:ln w="9525">
            <a:noFill/>
            <a:miter lim="800000"/>
            <a:headEnd/>
            <a:tailEnd/>
          </a:ln>
          <a:effectLst/>
        </p:spPr>
        <p:txBody>
          <a:bodyPr>
            <a:spAutoFit/>
          </a:bodyPr>
          <a:lstStyle/>
          <a:p>
            <a:pPr>
              <a:spcBef>
                <a:spcPct val="50000"/>
              </a:spcBef>
            </a:pPr>
            <a:r>
              <a:rPr lang="es-ES_tradnl">
                <a:latin typeface="Verdana" pitchFamily="34" charset="0"/>
              </a:rPr>
              <a:t>4</a:t>
            </a:r>
            <a:endParaRPr lang="es-ES">
              <a:latin typeface="Verdana" pitchFamily="34" charset="0"/>
            </a:endParaRPr>
          </a:p>
        </p:txBody>
      </p:sp>
      <p:sp>
        <p:nvSpPr>
          <p:cNvPr id="7841" name="Text Box 673"/>
          <p:cNvSpPr txBox="1">
            <a:spLocks noChangeArrowheads="1"/>
          </p:cNvSpPr>
          <p:nvPr/>
        </p:nvSpPr>
        <p:spPr bwMode="auto">
          <a:xfrm>
            <a:off x="3124200" y="3581400"/>
            <a:ext cx="381000" cy="457200"/>
          </a:xfrm>
          <a:prstGeom prst="rect">
            <a:avLst/>
          </a:prstGeom>
          <a:noFill/>
          <a:ln w="9525">
            <a:noFill/>
            <a:miter lim="800000"/>
            <a:headEnd/>
            <a:tailEnd/>
          </a:ln>
          <a:effectLst/>
        </p:spPr>
        <p:txBody>
          <a:bodyPr>
            <a:spAutoFit/>
          </a:bodyPr>
          <a:lstStyle/>
          <a:p>
            <a:pPr>
              <a:spcBef>
                <a:spcPct val="50000"/>
              </a:spcBef>
            </a:pPr>
            <a:r>
              <a:rPr lang="es-ES_tradnl">
                <a:latin typeface="Verdana" pitchFamily="34" charset="0"/>
              </a:rPr>
              <a:t>5</a:t>
            </a:r>
            <a:endParaRPr lang="es-ES">
              <a:latin typeface="Verdana" pitchFamily="34" charset="0"/>
            </a:endParaRPr>
          </a:p>
        </p:txBody>
      </p:sp>
      <p:sp>
        <p:nvSpPr>
          <p:cNvPr id="7842" name="Text Box 674"/>
          <p:cNvSpPr txBox="1">
            <a:spLocks noChangeArrowheads="1"/>
          </p:cNvSpPr>
          <p:nvPr/>
        </p:nvSpPr>
        <p:spPr bwMode="auto">
          <a:xfrm>
            <a:off x="6324600" y="3581400"/>
            <a:ext cx="381000" cy="457200"/>
          </a:xfrm>
          <a:prstGeom prst="rect">
            <a:avLst/>
          </a:prstGeom>
          <a:noFill/>
          <a:ln w="9525">
            <a:noFill/>
            <a:miter lim="800000"/>
            <a:headEnd/>
            <a:tailEnd/>
          </a:ln>
          <a:effectLst/>
        </p:spPr>
        <p:txBody>
          <a:bodyPr>
            <a:spAutoFit/>
          </a:bodyPr>
          <a:lstStyle/>
          <a:p>
            <a:pPr>
              <a:spcBef>
                <a:spcPct val="50000"/>
              </a:spcBef>
            </a:pPr>
            <a:r>
              <a:rPr lang="es-ES_tradnl">
                <a:latin typeface="Verdana" pitchFamily="34" charset="0"/>
              </a:rPr>
              <a:t>6</a:t>
            </a:r>
            <a:endParaRPr lang="es-ES">
              <a:latin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082"/>
                                        </p:tgtEl>
                                        <p:attrNameLst>
                                          <p:attrName>style.visibility</p:attrName>
                                        </p:attrNameLst>
                                      </p:cBhvr>
                                      <p:to>
                                        <p:strVal val="visible"/>
                                      </p:to>
                                    </p:set>
                                    <p:anim calcmode="lin" valueType="num">
                                      <p:cBhvr additive="base">
                                        <p:cTn id="7" dur="500" fill="hold"/>
                                        <p:tgtEl>
                                          <p:spTgt spid="8082"/>
                                        </p:tgtEl>
                                        <p:attrNameLst>
                                          <p:attrName>ppt_x</p:attrName>
                                        </p:attrNameLst>
                                      </p:cBhvr>
                                      <p:tavLst>
                                        <p:tav tm="0">
                                          <p:val>
                                            <p:strVal val="0-#ppt_w/2"/>
                                          </p:val>
                                        </p:tav>
                                        <p:tav tm="100000">
                                          <p:val>
                                            <p:strVal val="#ppt_x"/>
                                          </p:val>
                                        </p:tav>
                                      </p:tavLst>
                                    </p:anim>
                                    <p:anim calcmode="lin" valueType="num">
                                      <p:cBhvr additive="base">
                                        <p:cTn id="8" dur="500" fill="hold"/>
                                        <p:tgtEl>
                                          <p:spTgt spid="808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7837"/>
                                        </p:tgtEl>
                                        <p:attrNameLst>
                                          <p:attrName>style.visibility</p:attrName>
                                        </p:attrNameLst>
                                      </p:cBhvr>
                                      <p:to>
                                        <p:strVal val="visible"/>
                                      </p:to>
                                    </p:set>
                                    <p:anim calcmode="lin" valueType="num">
                                      <p:cBhvr additive="base">
                                        <p:cTn id="12" dur="500" fill="hold"/>
                                        <p:tgtEl>
                                          <p:spTgt spid="7837"/>
                                        </p:tgtEl>
                                        <p:attrNameLst>
                                          <p:attrName>ppt_x</p:attrName>
                                        </p:attrNameLst>
                                      </p:cBhvr>
                                      <p:tavLst>
                                        <p:tav tm="0">
                                          <p:val>
                                            <p:strVal val="0-#ppt_w/2"/>
                                          </p:val>
                                        </p:tav>
                                        <p:tav tm="100000">
                                          <p:val>
                                            <p:strVal val="#ppt_x"/>
                                          </p:val>
                                        </p:tav>
                                      </p:tavLst>
                                    </p:anim>
                                    <p:anim calcmode="lin" valueType="num">
                                      <p:cBhvr additive="base">
                                        <p:cTn id="13" dur="500" fill="hold"/>
                                        <p:tgtEl>
                                          <p:spTgt spid="783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5490"/>
                                        </p:tgtEl>
                                        <p:attrNameLst>
                                          <p:attrName>style.visibility</p:attrName>
                                        </p:attrNameLst>
                                      </p:cBhvr>
                                      <p:to>
                                        <p:strVal val="visible"/>
                                      </p:to>
                                    </p:set>
                                    <p:anim calcmode="lin" valueType="num">
                                      <p:cBhvr additive="base">
                                        <p:cTn id="18" dur="500" fill="hold"/>
                                        <p:tgtEl>
                                          <p:spTgt spid="15490"/>
                                        </p:tgtEl>
                                        <p:attrNameLst>
                                          <p:attrName>ppt_x</p:attrName>
                                        </p:attrNameLst>
                                      </p:cBhvr>
                                      <p:tavLst>
                                        <p:tav tm="0">
                                          <p:val>
                                            <p:strVal val="0-#ppt_w/2"/>
                                          </p:val>
                                        </p:tav>
                                        <p:tav tm="100000">
                                          <p:val>
                                            <p:strVal val="#ppt_x"/>
                                          </p:val>
                                        </p:tav>
                                      </p:tavLst>
                                    </p:anim>
                                    <p:anim calcmode="lin" valueType="num">
                                      <p:cBhvr additive="base">
                                        <p:cTn id="19" dur="500" fill="hold"/>
                                        <p:tgtEl>
                                          <p:spTgt spid="15490"/>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2" presetClass="entr" presetSubtype="8" fill="hold" grpId="0" nodeType="afterEffect">
                                  <p:stCondLst>
                                    <p:cond delay="0"/>
                                  </p:stCondLst>
                                  <p:childTnLst>
                                    <p:set>
                                      <p:cBhvr>
                                        <p:cTn id="22" dur="1" fill="hold">
                                          <p:stCondLst>
                                            <p:cond delay="0"/>
                                          </p:stCondLst>
                                        </p:cTn>
                                        <p:tgtEl>
                                          <p:spTgt spid="7838"/>
                                        </p:tgtEl>
                                        <p:attrNameLst>
                                          <p:attrName>style.visibility</p:attrName>
                                        </p:attrNameLst>
                                      </p:cBhvr>
                                      <p:to>
                                        <p:strVal val="visible"/>
                                      </p:to>
                                    </p:set>
                                    <p:anim calcmode="lin" valueType="num">
                                      <p:cBhvr additive="base">
                                        <p:cTn id="23" dur="500" fill="hold"/>
                                        <p:tgtEl>
                                          <p:spTgt spid="7838"/>
                                        </p:tgtEl>
                                        <p:attrNameLst>
                                          <p:attrName>ppt_x</p:attrName>
                                        </p:attrNameLst>
                                      </p:cBhvr>
                                      <p:tavLst>
                                        <p:tav tm="0">
                                          <p:val>
                                            <p:strVal val="0-#ppt_w/2"/>
                                          </p:val>
                                        </p:tav>
                                        <p:tav tm="100000">
                                          <p:val>
                                            <p:strVal val="#ppt_x"/>
                                          </p:val>
                                        </p:tav>
                                      </p:tavLst>
                                    </p:anim>
                                    <p:anim calcmode="lin" valueType="num">
                                      <p:cBhvr additive="base">
                                        <p:cTn id="24" dur="500" fill="hold"/>
                                        <p:tgtEl>
                                          <p:spTgt spid="783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15730"/>
                                        </p:tgtEl>
                                        <p:attrNameLst>
                                          <p:attrName>style.visibility</p:attrName>
                                        </p:attrNameLst>
                                      </p:cBhvr>
                                      <p:to>
                                        <p:strVal val="visible"/>
                                      </p:to>
                                    </p:set>
                                    <p:anim calcmode="lin" valueType="num">
                                      <p:cBhvr additive="base">
                                        <p:cTn id="29" dur="500" fill="hold"/>
                                        <p:tgtEl>
                                          <p:spTgt spid="15730"/>
                                        </p:tgtEl>
                                        <p:attrNameLst>
                                          <p:attrName>ppt_x</p:attrName>
                                        </p:attrNameLst>
                                      </p:cBhvr>
                                      <p:tavLst>
                                        <p:tav tm="0">
                                          <p:val>
                                            <p:strVal val="0-#ppt_w/2"/>
                                          </p:val>
                                        </p:tav>
                                        <p:tav tm="100000">
                                          <p:val>
                                            <p:strVal val="#ppt_x"/>
                                          </p:val>
                                        </p:tav>
                                      </p:tavLst>
                                    </p:anim>
                                    <p:anim calcmode="lin" valueType="num">
                                      <p:cBhvr additive="base">
                                        <p:cTn id="30" dur="500" fill="hold"/>
                                        <p:tgtEl>
                                          <p:spTgt spid="15730"/>
                                        </p:tgtEl>
                                        <p:attrNameLst>
                                          <p:attrName>ppt_y</p:attrName>
                                        </p:attrNameLst>
                                      </p:cBhvr>
                                      <p:tavLst>
                                        <p:tav tm="0">
                                          <p:val>
                                            <p:strVal val="#ppt_y"/>
                                          </p:val>
                                        </p:tav>
                                        <p:tav tm="100000">
                                          <p:val>
                                            <p:strVal val="#ppt_y"/>
                                          </p:val>
                                        </p:tav>
                                      </p:tavLst>
                                    </p:anim>
                                  </p:childTnLst>
                                </p:cTn>
                              </p:par>
                            </p:childTnLst>
                          </p:cTn>
                        </p:par>
                        <p:par>
                          <p:cTn id="31" fill="hold">
                            <p:stCondLst>
                              <p:cond delay="500"/>
                            </p:stCondLst>
                            <p:childTnLst>
                              <p:par>
                                <p:cTn id="32" presetID="2" presetClass="entr" presetSubtype="8" fill="hold" grpId="0" nodeType="afterEffect">
                                  <p:stCondLst>
                                    <p:cond delay="0"/>
                                  </p:stCondLst>
                                  <p:childTnLst>
                                    <p:set>
                                      <p:cBhvr>
                                        <p:cTn id="33" dur="1" fill="hold">
                                          <p:stCondLst>
                                            <p:cond delay="0"/>
                                          </p:stCondLst>
                                        </p:cTn>
                                        <p:tgtEl>
                                          <p:spTgt spid="7839"/>
                                        </p:tgtEl>
                                        <p:attrNameLst>
                                          <p:attrName>style.visibility</p:attrName>
                                        </p:attrNameLst>
                                      </p:cBhvr>
                                      <p:to>
                                        <p:strVal val="visible"/>
                                      </p:to>
                                    </p:set>
                                    <p:anim calcmode="lin" valueType="num">
                                      <p:cBhvr additive="base">
                                        <p:cTn id="34" dur="500" fill="hold"/>
                                        <p:tgtEl>
                                          <p:spTgt spid="7839"/>
                                        </p:tgtEl>
                                        <p:attrNameLst>
                                          <p:attrName>ppt_x</p:attrName>
                                        </p:attrNameLst>
                                      </p:cBhvr>
                                      <p:tavLst>
                                        <p:tav tm="0">
                                          <p:val>
                                            <p:strVal val="0-#ppt_w/2"/>
                                          </p:val>
                                        </p:tav>
                                        <p:tav tm="100000">
                                          <p:val>
                                            <p:strVal val="#ppt_x"/>
                                          </p:val>
                                        </p:tav>
                                      </p:tavLst>
                                    </p:anim>
                                    <p:anim calcmode="lin" valueType="num">
                                      <p:cBhvr additive="base">
                                        <p:cTn id="35" dur="500" fill="hold"/>
                                        <p:tgtEl>
                                          <p:spTgt spid="7839"/>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nodeType="clickEffect">
                                  <p:stCondLst>
                                    <p:cond delay="0"/>
                                  </p:stCondLst>
                                  <p:childTnLst>
                                    <p:set>
                                      <p:cBhvr>
                                        <p:cTn id="39" dur="1" fill="hold">
                                          <p:stCondLst>
                                            <p:cond delay="0"/>
                                          </p:stCondLst>
                                        </p:cTn>
                                        <p:tgtEl>
                                          <p:spTgt spid="15970"/>
                                        </p:tgtEl>
                                        <p:attrNameLst>
                                          <p:attrName>style.visibility</p:attrName>
                                        </p:attrNameLst>
                                      </p:cBhvr>
                                      <p:to>
                                        <p:strVal val="visible"/>
                                      </p:to>
                                    </p:set>
                                    <p:anim calcmode="lin" valueType="num">
                                      <p:cBhvr additive="base">
                                        <p:cTn id="40" dur="500" fill="hold"/>
                                        <p:tgtEl>
                                          <p:spTgt spid="15970"/>
                                        </p:tgtEl>
                                        <p:attrNameLst>
                                          <p:attrName>ppt_x</p:attrName>
                                        </p:attrNameLst>
                                      </p:cBhvr>
                                      <p:tavLst>
                                        <p:tav tm="0">
                                          <p:val>
                                            <p:strVal val="0-#ppt_w/2"/>
                                          </p:val>
                                        </p:tav>
                                        <p:tav tm="100000">
                                          <p:val>
                                            <p:strVal val="#ppt_x"/>
                                          </p:val>
                                        </p:tav>
                                      </p:tavLst>
                                    </p:anim>
                                    <p:anim calcmode="lin" valueType="num">
                                      <p:cBhvr additive="base">
                                        <p:cTn id="41" dur="500" fill="hold"/>
                                        <p:tgtEl>
                                          <p:spTgt spid="15970"/>
                                        </p:tgtEl>
                                        <p:attrNameLst>
                                          <p:attrName>ppt_y</p:attrName>
                                        </p:attrNameLst>
                                      </p:cBhvr>
                                      <p:tavLst>
                                        <p:tav tm="0">
                                          <p:val>
                                            <p:strVal val="#ppt_y"/>
                                          </p:val>
                                        </p:tav>
                                        <p:tav tm="100000">
                                          <p:val>
                                            <p:strVal val="#ppt_y"/>
                                          </p:val>
                                        </p:tav>
                                      </p:tavLst>
                                    </p:anim>
                                  </p:childTnLst>
                                </p:cTn>
                              </p:par>
                            </p:childTnLst>
                          </p:cTn>
                        </p:par>
                        <p:par>
                          <p:cTn id="42" fill="hold">
                            <p:stCondLst>
                              <p:cond delay="500"/>
                            </p:stCondLst>
                            <p:childTnLst>
                              <p:par>
                                <p:cTn id="43" presetID="2" presetClass="entr" presetSubtype="8" fill="hold" grpId="0" nodeType="afterEffect">
                                  <p:stCondLst>
                                    <p:cond delay="0"/>
                                  </p:stCondLst>
                                  <p:childTnLst>
                                    <p:set>
                                      <p:cBhvr>
                                        <p:cTn id="44" dur="1" fill="hold">
                                          <p:stCondLst>
                                            <p:cond delay="0"/>
                                          </p:stCondLst>
                                        </p:cTn>
                                        <p:tgtEl>
                                          <p:spTgt spid="7840"/>
                                        </p:tgtEl>
                                        <p:attrNameLst>
                                          <p:attrName>style.visibility</p:attrName>
                                        </p:attrNameLst>
                                      </p:cBhvr>
                                      <p:to>
                                        <p:strVal val="visible"/>
                                      </p:to>
                                    </p:set>
                                    <p:anim calcmode="lin" valueType="num">
                                      <p:cBhvr additive="base">
                                        <p:cTn id="45" dur="500" fill="hold"/>
                                        <p:tgtEl>
                                          <p:spTgt spid="7840"/>
                                        </p:tgtEl>
                                        <p:attrNameLst>
                                          <p:attrName>ppt_x</p:attrName>
                                        </p:attrNameLst>
                                      </p:cBhvr>
                                      <p:tavLst>
                                        <p:tav tm="0">
                                          <p:val>
                                            <p:strVal val="0-#ppt_w/2"/>
                                          </p:val>
                                        </p:tav>
                                        <p:tav tm="100000">
                                          <p:val>
                                            <p:strVal val="#ppt_x"/>
                                          </p:val>
                                        </p:tav>
                                      </p:tavLst>
                                    </p:anim>
                                    <p:anim calcmode="lin" valueType="num">
                                      <p:cBhvr additive="base">
                                        <p:cTn id="46" dur="500" fill="hold"/>
                                        <p:tgtEl>
                                          <p:spTgt spid="7840"/>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nodeType="clickEffect">
                                  <p:stCondLst>
                                    <p:cond delay="0"/>
                                  </p:stCondLst>
                                  <p:childTnLst>
                                    <p:set>
                                      <p:cBhvr>
                                        <p:cTn id="50" dur="1" fill="hold">
                                          <p:stCondLst>
                                            <p:cond delay="0"/>
                                          </p:stCondLst>
                                        </p:cTn>
                                        <p:tgtEl>
                                          <p:spTgt spid="16210"/>
                                        </p:tgtEl>
                                        <p:attrNameLst>
                                          <p:attrName>style.visibility</p:attrName>
                                        </p:attrNameLst>
                                      </p:cBhvr>
                                      <p:to>
                                        <p:strVal val="visible"/>
                                      </p:to>
                                    </p:set>
                                    <p:anim calcmode="lin" valueType="num">
                                      <p:cBhvr additive="base">
                                        <p:cTn id="51" dur="500" fill="hold"/>
                                        <p:tgtEl>
                                          <p:spTgt spid="16210"/>
                                        </p:tgtEl>
                                        <p:attrNameLst>
                                          <p:attrName>ppt_x</p:attrName>
                                        </p:attrNameLst>
                                      </p:cBhvr>
                                      <p:tavLst>
                                        <p:tav tm="0">
                                          <p:val>
                                            <p:strVal val="0-#ppt_w/2"/>
                                          </p:val>
                                        </p:tav>
                                        <p:tav tm="100000">
                                          <p:val>
                                            <p:strVal val="#ppt_x"/>
                                          </p:val>
                                        </p:tav>
                                      </p:tavLst>
                                    </p:anim>
                                    <p:anim calcmode="lin" valueType="num">
                                      <p:cBhvr additive="base">
                                        <p:cTn id="52" dur="500" fill="hold"/>
                                        <p:tgtEl>
                                          <p:spTgt spid="16210"/>
                                        </p:tgtEl>
                                        <p:attrNameLst>
                                          <p:attrName>ppt_y</p:attrName>
                                        </p:attrNameLst>
                                      </p:cBhvr>
                                      <p:tavLst>
                                        <p:tav tm="0">
                                          <p:val>
                                            <p:strVal val="#ppt_y"/>
                                          </p:val>
                                        </p:tav>
                                        <p:tav tm="100000">
                                          <p:val>
                                            <p:strVal val="#ppt_y"/>
                                          </p:val>
                                        </p:tav>
                                      </p:tavLst>
                                    </p:anim>
                                  </p:childTnLst>
                                </p:cTn>
                              </p:par>
                            </p:childTnLst>
                          </p:cTn>
                        </p:par>
                        <p:par>
                          <p:cTn id="53" fill="hold">
                            <p:stCondLst>
                              <p:cond delay="500"/>
                            </p:stCondLst>
                            <p:childTnLst>
                              <p:par>
                                <p:cTn id="54" presetID="2" presetClass="entr" presetSubtype="8" fill="hold" grpId="0" nodeType="afterEffect">
                                  <p:stCondLst>
                                    <p:cond delay="0"/>
                                  </p:stCondLst>
                                  <p:childTnLst>
                                    <p:set>
                                      <p:cBhvr>
                                        <p:cTn id="55" dur="1" fill="hold">
                                          <p:stCondLst>
                                            <p:cond delay="0"/>
                                          </p:stCondLst>
                                        </p:cTn>
                                        <p:tgtEl>
                                          <p:spTgt spid="7841"/>
                                        </p:tgtEl>
                                        <p:attrNameLst>
                                          <p:attrName>style.visibility</p:attrName>
                                        </p:attrNameLst>
                                      </p:cBhvr>
                                      <p:to>
                                        <p:strVal val="visible"/>
                                      </p:to>
                                    </p:set>
                                    <p:anim calcmode="lin" valueType="num">
                                      <p:cBhvr additive="base">
                                        <p:cTn id="56" dur="500" fill="hold"/>
                                        <p:tgtEl>
                                          <p:spTgt spid="7841"/>
                                        </p:tgtEl>
                                        <p:attrNameLst>
                                          <p:attrName>ppt_x</p:attrName>
                                        </p:attrNameLst>
                                      </p:cBhvr>
                                      <p:tavLst>
                                        <p:tav tm="0">
                                          <p:val>
                                            <p:strVal val="0-#ppt_w/2"/>
                                          </p:val>
                                        </p:tav>
                                        <p:tav tm="100000">
                                          <p:val>
                                            <p:strVal val="#ppt_x"/>
                                          </p:val>
                                        </p:tav>
                                      </p:tavLst>
                                    </p:anim>
                                    <p:anim calcmode="lin" valueType="num">
                                      <p:cBhvr additive="base">
                                        <p:cTn id="57" dur="500" fill="hold"/>
                                        <p:tgtEl>
                                          <p:spTgt spid="7841"/>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nodeType="clickEffect">
                                  <p:stCondLst>
                                    <p:cond delay="0"/>
                                  </p:stCondLst>
                                  <p:childTnLst>
                                    <p:set>
                                      <p:cBhvr>
                                        <p:cTn id="61" dur="1" fill="hold">
                                          <p:stCondLst>
                                            <p:cond delay="0"/>
                                          </p:stCondLst>
                                        </p:cTn>
                                        <p:tgtEl>
                                          <p:spTgt spid="16450"/>
                                        </p:tgtEl>
                                        <p:attrNameLst>
                                          <p:attrName>style.visibility</p:attrName>
                                        </p:attrNameLst>
                                      </p:cBhvr>
                                      <p:to>
                                        <p:strVal val="visible"/>
                                      </p:to>
                                    </p:set>
                                    <p:anim calcmode="lin" valueType="num">
                                      <p:cBhvr additive="base">
                                        <p:cTn id="62" dur="500" fill="hold"/>
                                        <p:tgtEl>
                                          <p:spTgt spid="16450"/>
                                        </p:tgtEl>
                                        <p:attrNameLst>
                                          <p:attrName>ppt_x</p:attrName>
                                        </p:attrNameLst>
                                      </p:cBhvr>
                                      <p:tavLst>
                                        <p:tav tm="0">
                                          <p:val>
                                            <p:strVal val="0-#ppt_w/2"/>
                                          </p:val>
                                        </p:tav>
                                        <p:tav tm="100000">
                                          <p:val>
                                            <p:strVal val="#ppt_x"/>
                                          </p:val>
                                        </p:tav>
                                      </p:tavLst>
                                    </p:anim>
                                    <p:anim calcmode="lin" valueType="num">
                                      <p:cBhvr additive="base">
                                        <p:cTn id="63" dur="500" fill="hold"/>
                                        <p:tgtEl>
                                          <p:spTgt spid="16450"/>
                                        </p:tgtEl>
                                        <p:attrNameLst>
                                          <p:attrName>ppt_y</p:attrName>
                                        </p:attrNameLst>
                                      </p:cBhvr>
                                      <p:tavLst>
                                        <p:tav tm="0">
                                          <p:val>
                                            <p:strVal val="#ppt_y"/>
                                          </p:val>
                                        </p:tav>
                                        <p:tav tm="100000">
                                          <p:val>
                                            <p:strVal val="#ppt_y"/>
                                          </p:val>
                                        </p:tav>
                                      </p:tavLst>
                                    </p:anim>
                                  </p:childTnLst>
                                </p:cTn>
                              </p:par>
                            </p:childTnLst>
                          </p:cTn>
                        </p:par>
                        <p:par>
                          <p:cTn id="64" fill="hold">
                            <p:stCondLst>
                              <p:cond delay="500"/>
                            </p:stCondLst>
                            <p:childTnLst>
                              <p:par>
                                <p:cTn id="65" presetID="2" presetClass="entr" presetSubtype="8" fill="hold" grpId="0" nodeType="afterEffect">
                                  <p:stCondLst>
                                    <p:cond delay="0"/>
                                  </p:stCondLst>
                                  <p:childTnLst>
                                    <p:set>
                                      <p:cBhvr>
                                        <p:cTn id="66" dur="1" fill="hold">
                                          <p:stCondLst>
                                            <p:cond delay="0"/>
                                          </p:stCondLst>
                                        </p:cTn>
                                        <p:tgtEl>
                                          <p:spTgt spid="7842"/>
                                        </p:tgtEl>
                                        <p:attrNameLst>
                                          <p:attrName>style.visibility</p:attrName>
                                        </p:attrNameLst>
                                      </p:cBhvr>
                                      <p:to>
                                        <p:strVal val="visible"/>
                                      </p:to>
                                    </p:set>
                                    <p:anim calcmode="lin" valueType="num">
                                      <p:cBhvr additive="base">
                                        <p:cTn id="67" dur="500" fill="hold"/>
                                        <p:tgtEl>
                                          <p:spTgt spid="7842"/>
                                        </p:tgtEl>
                                        <p:attrNameLst>
                                          <p:attrName>ppt_x</p:attrName>
                                        </p:attrNameLst>
                                      </p:cBhvr>
                                      <p:tavLst>
                                        <p:tav tm="0">
                                          <p:val>
                                            <p:strVal val="0-#ppt_w/2"/>
                                          </p:val>
                                        </p:tav>
                                        <p:tav tm="100000">
                                          <p:val>
                                            <p:strVal val="#ppt_x"/>
                                          </p:val>
                                        </p:tav>
                                      </p:tavLst>
                                    </p:anim>
                                    <p:anim calcmode="lin" valueType="num">
                                      <p:cBhvr additive="base">
                                        <p:cTn id="68" dur="500" fill="hold"/>
                                        <p:tgtEl>
                                          <p:spTgt spid="78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37" grpId="0" autoUpdateAnimBg="0"/>
      <p:bldP spid="7838" grpId="0" autoUpdateAnimBg="0"/>
      <p:bldP spid="7839" grpId="0" autoUpdateAnimBg="0"/>
      <p:bldP spid="7840" grpId="0" autoUpdateAnimBg="0"/>
      <p:bldP spid="7841" grpId="0" autoUpdateAnimBg="0"/>
      <p:bldP spid="7842"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1000" y="228600"/>
            <a:ext cx="7772400" cy="457200"/>
          </a:xfrm>
        </p:spPr>
        <p:txBody>
          <a:bodyPr>
            <a:normAutofit fontScale="90000"/>
          </a:bodyPr>
          <a:lstStyle/>
          <a:p>
            <a:pPr algn="l"/>
            <a:r>
              <a:rPr lang="es-ES_tradnl" sz="3200">
                <a:latin typeface="Verdana" pitchFamily="34" charset="0"/>
              </a:rPr>
              <a:t>La solución</a:t>
            </a:r>
            <a:endParaRPr lang="es-ES" sz="3200">
              <a:latin typeface="Verdana" pitchFamily="34" charset="0"/>
            </a:endParaRPr>
          </a:p>
        </p:txBody>
      </p:sp>
      <p:sp>
        <p:nvSpPr>
          <p:cNvPr id="8195" name="Text Box 3"/>
          <p:cNvSpPr txBox="1">
            <a:spLocks noChangeArrowheads="1"/>
          </p:cNvSpPr>
          <p:nvPr/>
        </p:nvSpPr>
        <p:spPr bwMode="auto">
          <a:xfrm>
            <a:off x="152400" y="990600"/>
            <a:ext cx="8763000" cy="1920875"/>
          </a:xfrm>
          <a:prstGeom prst="rect">
            <a:avLst/>
          </a:prstGeom>
          <a:noFill/>
          <a:ln w="9525">
            <a:noFill/>
            <a:miter lim="800000"/>
            <a:headEnd/>
            <a:tailEnd/>
          </a:ln>
          <a:effectLst/>
        </p:spPr>
        <p:txBody>
          <a:bodyPr>
            <a:spAutoFit/>
          </a:bodyPr>
          <a:lstStyle/>
          <a:p>
            <a:pPr algn="just">
              <a:spcBef>
                <a:spcPct val="50000"/>
              </a:spcBef>
            </a:pPr>
            <a:r>
              <a:rPr lang="es-ES_tradnl" sz="2000">
                <a:latin typeface="Verdana" pitchFamily="34" charset="0"/>
              </a:rPr>
              <a:t>Inicializar un arreglo llamado MAPA, que contenga la configuración inicial de las celdillas vivas.</a:t>
            </a:r>
          </a:p>
          <a:p>
            <a:pPr algn="just">
              <a:spcBef>
                <a:spcPct val="50000"/>
              </a:spcBef>
            </a:pPr>
            <a:r>
              <a:rPr lang="es-ES_tradnl" sz="2000">
                <a:latin typeface="Verdana" pitchFamily="34" charset="0"/>
              </a:rPr>
              <a:t>Determinar cuantas generaciones abarcará el juego.</a:t>
            </a:r>
          </a:p>
          <a:p>
            <a:pPr algn="just">
              <a:spcBef>
                <a:spcPct val="50000"/>
              </a:spcBef>
            </a:pPr>
            <a:r>
              <a:rPr lang="es-ES_tradnl" sz="2000">
                <a:latin typeface="Verdana" pitchFamily="34" charset="0"/>
              </a:rPr>
              <a:t>Repetir los siguientes pasos para el número de generaciones deseado:</a:t>
            </a:r>
          </a:p>
        </p:txBody>
      </p:sp>
      <p:sp>
        <p:nvSpPr>
          <p:cNvPr id="8196" name="Text Box 4"/>
          <p:cNvSpPr txBox="1">
            <a:spLocks noChangeArrowheads="1"/>
          </p:cNvSpPr>
          <p:nvPr/>
        </p:nvSpPr>
        <p:spPr bwMode="auto">
          <a:xfrm>
            <a:off x="533400" y="2971800"/>
            <a:ext cx="8382000" cy="396875"/>
          </a:xfrm>
          <a:prstGeom prst="rect">
            <a:avLst/>
          </a:prstGeom>
          <a:noFill/>
          <a:ln w="9525">
            <a:noFill/>
            <a:miter lim="800000"/>
            <a:headEnd/>
            <a:tailEnd/>
          </a:ln>
          <a:effectLst/>
        </p:spPr>
        <p:txBody>
          <a:bodyPr>
            <a:spAutoFit/>
          </a:bodyPr>
          <a:lstStyle/>
          <a:p>
            <a:pPr algn="just">
              <a:spcBef>
                <a:spcPct val="50000"/>
              </a:spcBef>
            </a:pPr>
            <a:r>
              <a:rPr lang="es-ES_tradnl" sz="2000">
                <a:latin typeface="Verdana" pitchFamily="34" charset="0"/>
              </a:rPr>
              <a:t>Para cada celdilla del arreglo haga esto:</a:t>
            </a:r>
            <a:endParaRPr lang="es-ES"/>
          </a:p>
        </p:txBody>
      </p:sp>
      <p:sp>
        <p:nvSpPr>
          <p:cNvPr id="8197" name="Text Box 5"/>
          <p:cNvSpPr txBox="1">
            <a:spLocks noChangeArrowheads="1"/>
          </p:cNvSpPr>
          <p:nvPr/>
        </p:nvSpPr>
        <p:spPr bwMode="auto">
          <a:xfrm>
            <a:off x="914400" y="3429000"/>
            <a:ext cx="7924800" cy="3140075"/>
          </a:xfrm>
          <a:prstGeom prst="rect">
            <a:avLst/>
          </a:prstGeom>
          <a:noFill/>
          <a:ln w="9525">
            <a:noFill/>
            <a:miter lim="800000"/>
            <a:headEnd/>
            <a:tailEnd/>
          </a:ln>
          <a:effectLst/>
        </p:spPr>
        <p:txBody>
          <a:bodyPr>
            <a:spAutoFit/>
          </a:bodyPr>
          <a:lstStyle/>
          <a:p>
            <a:pPr algn="just">
              <a:spcBef>
                <a:spcPct val="50000"/>
              </a:spcBef>
            </a:pPr>
            <a:r>
              <a:rPr lang="es-ES_tradnl" sz="2000">
                <a:latin typeface="Verdana" pitchFamily="34" charset="0"/>
              </a:rPr>
              <a:t>Cuente el número de vecinos vivos de la celdilla. Si el recuento es 0, 1, 4, 5, 6, 7 o 8, ponga la celdilla correspondiente en otro arreglo llamado NUEVOMAPA para que esté muerta; si el conteo es 3, se pone la celdilla correspondiente para que este viva; y si el conteo es 2, se pone la celdilla correspondiente para que sea la misma que la del arreglo MAPA.</a:t>
            </a:r>
          </a:p>
          <a:p>
            <a:pPr algn="just">
              <a:spcBef>
                <a:spcPct val="50000"/>
              </a:spcBef>
            </a:pPr>
            <a:r>
              <a:rPr lang="es-ES_tradnl" sz="2000">
                <a:latin typeface="Verdana" pitchFamily="34" charset="0"/>
              </a:rPr>
              <a:t>Copiar el arreglo NUEVOMAPA en el arreglo MAPA.</a:t>
            </a:r>
          </a:p>
          <a:p>
            <a:pPr algn="just">
              <a:spcBef>
                <a:spcPct val="50000"/>
              </a:spcBef>
            </a:pPr>
            <a:r>
              <a:rPr lang="es-ES_tradnl" sz="2000">
                <a:latin typeface="Verdana" pitchFamily="34" charset="0"/>
              </a:rPr>
              <a:t>Imprimir el arreglo MAPA para el usuario.</a:t>
            </a:r>
            <a:endParaRPr lang="es-E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81000" y="228600"/>
            <a:ext cx="7772400" cy="457200"/>
          </a:xfrm>
        </p:spPr>
        <p:txBody>
          <a:bodyPr>
            <a:normAutofit fontScale="90000"/>
          </a:bodyPr>
          <a:lstStyle/>
          <a:p>
            <a:pPr algn="l"/>
            <a:r>
              <a:rPr lang="es-ES_tradnl" sz="3200">
                <a:latin typeface="Verdana" pitchFamily="34" charset="0"/>
              </a:rPr>
              <a:t>La solución</a:t>
            </a:r>
            <a:endParaRPr lang="es-ES" sz="3200">
              <a:latin typeface="Verdana" pitchFamily="34" charset="0"/>
            </a:endParaRPr>
          </a:p>
        </p:txBody>
      </p:sp>
      <p:sp>
        <p:nvSpPr>
          <p:cNvPr id="17411" name="Text Box 3"/>
          <p:cNvSpPr txBox="1">
            <a:spLocks noChangeArrowheads="1"/>
          </p:cNvSpPr>
          <p:nvPr/>
        </p:nvSpPr>
        <p:spPr bwMode="auto">
          <a:xfrm>
            <a:off x="152400" y="990600"/>
            <a:ext cx="8667750" cy="5103813"/>
          </a:xfrm>
          <a:prstGeom prst="rect">
            <a:avLst/>
          </a:prstGeom>
          <a:noFill/>
          <a:ln w="9525">
            <a:noFill/>
            <a:miter lim="800000"/>
            <a:headEnd/>
            <a:tailEnd/>
          </a:ln>
          <a:effectLst/>
        </p:spPr>
        <p:txBody>
          <a:bodyPr>
            <a:spAutoFit/>
          </a:bodyPr>
          <a:lstStyle/>
          <a:p>
            <a:pPr algn="just"/>
            <a:r>
              <a:rPr lang="es-ES_tradnl" sz="1600">
                <a:latin typeface="Verdana" pitchFamily="34" charset="0"/>
              </a:rPr>
              <a:t>Programa VIDA;</a:t>
            </a:r>
          </a:p>
          <a:p>
            <a:pPr algn="just"/>
            <a:r>
              <a:rPr lang="es-ES_tradnl" sz="1600">
                <a:latin typeface="Verdana" pitchFamily="34" charset="0"/>
              </a:rPr>
              <a:t>Filas = 50; Columnas = 60;</a:t>
            </a:r>
          </a:p>
          <a:p>
            <a:pPr algn="just"/>
            <a:r>
              <a:rPr lang="es-ES_tradnl" sz="1600">
                <a:latin typeface="Verdana" pitchFamily="34" charset="0"/>
              </a:rPr>
              <a:t>Mapa, nuevomapa = grilla( filas, columnas)</a:t>
            </a:r>
          </a:p>
          <a:p>
            <a:pPr algn="just"/>
            <a:endParaRPr lang="es-ES_tradnl" sz="1600">
              <a:latin typeface="Verdana" pitchFamily="34" charset="0"/>
            </a:endParaRPr>
          </a:p>
          <a:p>
            <a:pPr algn="just"/>
            <a:r>
              <a:rPr lang="es-ES_tradnl" sz="1600">
                <a:latin typeface="Verdana" pitchFamily="34" charset="0"/>
              </a:rPr>
              <a:t>InicializoVariables;</a:t>
            </a:r>
          </a:p>
          <a:p>
            <a:pPr algn="just"/>
            <a:r>
              <a:rPr lang="es-ES_tradnl" sz="1600">
                <a:latin typeface="Verdana" pitchFamily="34" charset="0"/>
              </a:rPr>
              <a:t>Generacion = 0;</a:t>
            </a:r>
          </a:p>
          <a:p>
            <a:pPr algn="just"/>
            <a:r>
              <a:rPr lang="es-ES_tradnl" sz="1600">
                <a:latin typeface="Verdana" pitchFamily="34" charset="0"/>
              </a:rPr>
              <a:t>EscribeMapa;</a:t>
            </a:r>
          </a:p>
          <a:p>
            <a:pPr algn="just"/>
            <a:r>
              <a:rPr lang="es-ES_tradnl" sz="1600">
                <a:latin typeface="Verdana" pitchFamily="34" charset="0"/>
              </a:rPr>
              <a:t>DESDE generacion = 1 HASTA ultimageneracion</a:t>
            </a:r>
          </a:p>
          <a:p>
            <a:pPr algn="just"/>
            <a:r>
              <a:rPr lang="es-ES_tradnl" sz="1600">
                <a:latin typeface="Verdana" pitchFamily="34" charset="0"/>
              </a:rPr>
              <a:t>	DESDE i = 1 HASTA filas</a:t>
            </a:r>
          </a:p>
          <a:p>
            <a:pPr algn="just"/>
            <a:r>
              <a:rPr lang="es-ES_tradnl" sz="1600">
                <a:latin typeface="Verdana" pitchFamily="34" charset="0"/>
              </a:rPr>
              <a:t>		DESDE j = 1 HASTA columnas</a:t>
            </a:r>
          </a:p>
          <a:p>
            <a:pPr algn="just"/>
            <a:r>
              <a:rPr lang="es-ES_tradnl" sz="1600">
                <a:latin typeface="Verdana" pitchFamily="34" charset="0"/>
              </a:rPr>
              <a:t>			vecinos = CuentaVecinos( i, j )</a:t>
            </a:r>
          </a:p>
          <a:p>
            <a:pPr algn="just"/>
            <a:r>
              <a:rPr lang="es-ES_tradnl" sz="1600">
                <a:latin typeface="Verdana" pitchFamily="34" charset="0"/>
              </a:rPr>
              <a:t>			SI vecinos IGUAL A</a:t>
            </a:r>
          </a:p>
          <a:p>
            <a:pPr algn="just"/>
            <a:r>
              <a:rPr lang="es-ES_tradnl" sz="1600">
                <a:latin typeface="Verdana" pitchFamily="34" charset="0"/>
              </a:rPr>
              <a:t>				0, 1 : NUEVOMAPA( i, j ) = muerta</a:t>
            </a:r>
          </a:p>
          <a:p>
            <a:pPr algn="just"/>
            <a:r>
              <a:rPr lang="es-ES_tradnl" sz="1600">
                <a:latin typeface="Verdana" pitchFamily="34" charset="0"/>
              </a:rPr>
              <a:t>				2 :     NUEVOMAPA( i, j ) = mapa( i, j )</a:t>
            </a:r>
          </a:p>
          <a:p>
            <a:pPr algn="just"/>
            <a:r>
              <a:rPr lang="es-ES_tradnl" sz="1600">
                <a:latin typeface="Verdana" pitchFamily="34" charset="0"/>
              </a:rPr>
              <a:t>				3 :     NUEVOMAPA( i, j ) = viva</a:t>
            </a:r>
          </a:p>
          <a:p>
            <a:pPr algn="just"/>
            <a:r>
              <a:rPr lang="es-ES_tradnl" sz="1600">
                <a:latin typeface="Verdana" pitchFamily="34" charset="0"/>
              </a:rPr>
              <a:t>				4, 5, 6, 7, 8 : NUEVOMAPA( i, j ) = muerta</a:t>
            </a:r>
          </a:p>
          <a:p>
            <a:pPr algn="just"/>
            <a:r>
              <a:rPr lang="es-ES_tradnl" sz="1600">
                <a:latin typeface="Verdana" pitchFamily="34" charset="0"/>
              </a:rPr>
              <a:t>	mapa = nuevomapa</a:t>
            </a:r>
          </a:p>
          <a:p>
            <a:pPr algn="just"/>
            <a:r>
              <a:rPr lang="es-ES_tradnl" sz="1600">
                <a:latin typeface="Verdana" pitchFamily="34" charset="0"/>
              </a:rPr>
              <a:t>	MuestraMapa</a:t>
            </a:r>
          </a:p>
          <a:p>
            <a:pPr algn="just"/>
            <a:r>
              <a:rPr lang="es-ES_tradnl" sz="1600">
                <a:latin typeface="Verdana" pitchFamily="34" charset="0"/>
              </a:rPr>
              <a:t>FIN</a:t>
            </a:r>
          </a:p>
          <a:p>
            <a:pPr algn="just">
              <a:spcBef>
                <a:spcPct val="50000"/>
              </a:spcBef>
            </a:pPr>
            <a:endParaRPr lang="es-ES_tradnl" sz="1600">
              <a:latin typeface="Verdana"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304800" y="152400"/>
            <a:ext cx="7772400" cy="685800"/>
          </a:xfrm>
        </p:spPr>
        <p:txBody>
          <a:bodyPr/>
          <a:lstStyle/>
          <a:p>
            <a:pPr algn="l"/>
            <a:r>
              <a:rPr lang="es-ES_tradnl" sz="3200">
                <a:latin typeface="Verdana" pitchFamily="34" charset="0"/>
              </a:rPr>
              <a:t>Principios de programación</a:t>
            </a:r>
            <a:endParaRPr lang="es-ES" sz="3200">
              <a:latin typeface="Verdana" pitchFamily="34" charset="0"/>
            </a:endParaRPr>
          </a:p>
        </p:txBody>
      </p:sp>
      <p:sp>
        <p:nvSpPr>
          <p:cNvPr id="9219" name="Rectangle 3"/>
          <p:cNvSpPr>
            <a:spLocks noGrp="1" noChangeArrowheads="1"/>
          </p:cNvSpPr>
          <p:nvPr>
            <p:ph idx="1"/>
          </p:nvPr>
        </p:nvSpPr>
        <p:spPr>
          <a:xfrm>
            <a:off x="228600" y="914400"/>
            <a:ext cx="8686800" cy="5715000"/>
          </a:xfrm>
        </p:spPr>
        <p:txBody>
          <a:bodyPr/>
          <a:lstStyle/>
          <a:p>
            <a:pPr marL="609600" indent="-609600"/>
            <a:r>
              <a:rPr lang="es-ES_tradnl" sz="2000">
                <a:solidFill>
                  <a:schemeClr val="tx2"/>
                </a:solidFill>
                <a:latin typeface="Verdana" pitchFamily="34" charset="0"/>
              </a:rPr>
              <a:t>Nombres:</a:t>
            </a:r>
            <a:r>
              <a:rPr lang="es-ES_tradnl" sz="2000">
                <a:latin typeface="Verdana" pitchFamily="34" charset="0"/>
              </a:rPr>
              <a:t> importancia del nombre de variable y del nombre de los subprogramas.</a:t>
            </a:r>
          </a:p>
          <a:p>
            <a:pPr marL="609600" indent="-609600">
              <a:buFontTx/>
              <a:buNone/>
            </a:pPr>
            <a:r>
              <a:rPr lang="es-ES_tradnl" sz="2000">
                <a:solidFill>
                  <a:schemeClr val="accent1"/>
                </a:solidFill>
                <a:latin typeface="Verdana" pitchFamily="34" charset="0"/>
              </a:rPr>
              <a:t>Regla de programación</a:t>
            </a:r>
          </a:p>
          <a:p>
            <a:pPr marL="609600" indent="-609600">
              <a:buFontTx/>
              <a:buNone/>
            </a:pPr>
            <a:r>
              <a:rPr lang="es-ES_tradnl" sz="2000">
                <a:latin typeface="Verdana" pitchFamily="34" charset="0"/>
              </a:rPr>
              <a:t>	</a:t>
            </a:r>
            <a:r>
              <a:rPr lang="es-ES_tradnl" sz="2000">
                <a:solidFill>
                  <a:schemeClr val="accent1"/>
                </a:solidFill>
                <a:latin typeface="Verdana" pitchFamily="34" charset="0"/>
              </a:rPr>
              <a:t>Siempre se impone a las variables y subprogramas o funciones con mucho cuidado y se explican de manera detallada.</a:t>
            </a:r>
          </a:p>
          <a:p>
            <a:pPr marL="609600" indent="-609600">
              <a:buFontTx/>
              <a:buAutoNum type="arabicPeriod"/>
            </a:pPr>
            <a:r>
              <a:rPr lang="es-ES_tradnl" sz="2000">
                <a:latin typeface="Verdana" pitchFamily="34" charset="0"/>
              </a:rPr>
              <a:t>Se deben elegir nombres significativos y que sugieran claramente la finalidad del subprograma.</a:t>
            </a:r>
          </a:p>
          <a:p>
            <a:pPr marL="609600" indent="-609600">
              <a:buFontTx/>
              <a:buAutoNum type="arabicPeriod"/>
            </a:pPr>
            <a:r>
              <a:rPr lang="es-ES_tradnl" sz="2000">
                <a:latin typeface="Verdana" pitchFamily="34" charset="0"/>
              </a:rPr>
              <a:t>Las variables que se usan poco deben ser nombres sencillos, una sola letra puede ser una elección idónea.</a:t>
            </a:r>
          </a:p>
          <a:p>
            <a:pPr marL="609600" indent="-609600">
              <a:buFontTx/>
              <a:buAutoNum type="arabicPeriod"/>
            </a:pPr>
            <a:r>
              <a:rPr lang="es-ES_tradnl" sz="2000">
                <a:latin typeface="Verdana" pitchFamily="34" charset="0"/>
              </a:rPr>
              <a:t>Servirse de prefijos o sufijos comunes para asociar nombres pertenecientes a la misma categoría general.  Ej. Los archivos utilizados, podrían llamarse:</a:t>
            </a:r>
          </a:p>
          <a:p>
            <a:pPr marL="609600" indent="-609600">
              <a:buFontTx/>
              <a:buNone/>
            </a:pPr>
            <a:r>
              <a:rPr lang="es-ES_tradnl" sz="2000">
                <a:latin typeface="Verdana" pitchFamily="34" charset="0"/>
              </a:rPr>
              <a:t>		ArchivoEntrada	ArchivoTransaccion	ArchivoTotal</a:t>
            </a:r>
          </a:p>
          <a:p>
            <a:pPr marL="609600" indent="-609600">
              <a:buFontTx/>
              <a:buNone/>
            </a:pPr>
            <a:r>
              <a:rPr lang="es-ES_tradnl" sz="2000">
                <a:latin typeface="Verdana" pitchFamily="34" charset="0"/>
              </a:rPr>
              <a:t>		ArchivoSalida		ArchivoRechazo</a:t>
            </a:r>
          </a:p>
          <a:p>
            <a:pPr marL="609600" indent="-609600">
              <a:buFontTx/>
              <a:buNone/>
            </a:pPr>
            <a:endParaRPr lang="es-ES" sz="2000">
              <a:latin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blinds(horizontal)">
                                      <p:cBhvr>
                                        <p:cTn id="12" dur="500"/>
                                        <p:tgtEl>
                                          <p:spTgt spid="9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blinds(horizontal)">
                                      <p:cBhvr>
                                        <p:cTn id="17" dur="500"/>
                                        <p:tgtEl>
                                          <p:spTgt spid="92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219">
                                            <p:txEl>
                                              <p:pRg st="3" end="3"/>
                                            </p:txEl>
                                          </p:spTgt>
                                        </p:tgtEl>
                                        <p:attrNameLst>
                                          <p:attrName>style.visibility</p:attrName>
                                        </p:attrNameLst>
                                      </p:cBhvr>
                                      <p:to>
                                        <p:strVal val="visible"/>
                                      </p:to>
                                    </p:set>
                                    <p:animEffect transition="in" filter="blinds(horizontal)">
                                      <p:cBhvr>
                                        <p:cTn id="22" dur="500"/>
                                        <p:tgtEl>
                                          <p:spTgt spid="92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219">
                                            <p:txEl>
                                              <p:pRg st="4" end="4"/>
                                            </p:txEl>
                                          </p:spTgt>
                                        </p:tgtEl>
                                        <p:attrNameLst>
                                          <p:attrName>style.visibility</p:attrName>
                                        </p:attrNameLst>
                                      </p:cBhvr>
                                      <p:to>
                                        <p:strVal val="visible"/>
                                      </p:to>
                                    </p:set>
                                    <p:animEffect transition="in" filter="blinds(horizontal)">
                                      <p:cBhvr>
                                        <p:cTn id="27" dur="500"/>
                                        <p:tgtEl>
                                          <p:spTgt spid="92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9219">
                                            <p:txEl>
                                              <p:pRg st="5" end="5"/>
                                            </p:txEl>
                                          </p:spTgt>
                                        </p:tgtEl>
                                        <p:attrNameLst>
                                          <p:attrName>style.visibility</p:attrName>
                                        </p:attrNameLst>
                                      </p:cBhvr>
                                      <p:to>
                                        <p:strVal val="visible"/>
                                      </p:to>
                                    </p:set>
                                    <p:animEffect transition="in" filter="blinds(horizontal)">
                                      <p:cBhvr>
                                        <p:cTn id="32" dur="500"/>
                                        <p:tgtEl>
                                          <p:spTgt spid="921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9219">
                                            <p:txEl>
                                              <p:pRg st="6" end="6"/>
                                            </p:txEl>
                                          </p:spTgt>
                                        </p:tgtEl>
                                        <p:attrNameLst>
                                          <p:attrName>style.visibility</p:attrName>
                                        </p:attrNameLst>
                                      </p:cBhvr>
                                      <p:to>
                                        <p:strVal val="visible"/>
                                      </p:to>
                                    </p:set>
                                    <p:animEffect transition="in" filter="blinds(horizontal)">
                                      <p:cBhvr>
                                        <p:cTn id="37" dur="500"/>
                                        <p:tgtEl>
                                          <p:spTgt spid="921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9219">
                                            <p:txEl>
                                              <p:pRg st="7" end="7"/>
                                            </p:txEl>
                                          </p:spTgt>
                                        </p:tgtEl>
                                        <p:attrNameLst>
                                          <p:attrName>style.visibility</p:attrName>
                                        </p:attrNameLst>
                                      </p:cBhvr>
                                      <p:to>
                                        <p:strVal val="visible"/>
                                      </p:to>
                                    </p:set>
                                    <p:animEffect transition="in" filter="blinds(horizontal)">
                                      <p:cBhvr>
                                        <p:cTn id="42" dur="500"/>
                                        <p:tgtEl>
                                          <p:spTgt spid="921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04800" y="152400"/>
            <a:ext cx="7772400" cy="685800"/>
          </a:xfrm>
        </p:spPr>
        <p:txBody>
          <a:bodyPr/>
          <a:lstStyle/>
          <a:p>
            <a:pPr algn="l"/>
            <a:r>
              <a:rPr lang="es-ES_tradnl" sz="3200">
                <a:latin typeface="Verdana" pitchFamily="34" charset="0"/>
              </a:rPr>
              <a:t>Principios de programación</a:t>
            </a:r>
            <a:endParaRPr lang="es-ES" sz="3200">
              <a:latin typeface="Verdana" pitchFamily="34" charset="0"/>
            </a:endParaRPr>
          </a:p>
        </p:txBody>
      </p:sp>
      <p:sp>
        <p:nvSpPr>
          <p:cNvPr id="10243" name="Rectangle 3"/>
          <p:cNvSpPr>
            <a:spLocks noGrp="1" noChangeArrowheads="1"/>
          </p:cNvSpPr>
          <p:nvPr>
            <p:ph idx="1"/>
          </p:nvPr>
        </p:nvSpPr>
        <p:spPr>
          <a:xfrm>
            <a:off x="228600" y="1447800"/>
            <a:ext cx="8686800" cy="5181600"/>
          </a:xfrm>
        </p:spPr>
        <p:txBody>
          <a:bodyPr/>
          <a:lstStyle/>
          <a:p>
            <a:pPr marL="609600" indent="-609600">
              <a:buFontTx/>
              <a:buAutoNum type="arabicPeriod" startAt="4"/>
            </a:pPr>
            <a:r>
              <a:rPr lang="es-ES_tradnl" sz="2000">
                <a:latin typeface="Verdana" pitchFamily="34" charset="0"/>
              </a:rPr>
              <a:t>Evitar errores de ortografía deliberados y los sufijos carentes de significado cuya única finalidad es acuñar nombres diferentes.</a:t>
            </a:r>
          </a:p>
          <a:p>
            <a:pPr marL="609600" indent="-609600">
              <a:buFontTx/>
              <a:buNone/>
            </a:pPr>
            <a:r>
              <a:rPr lang="es-ES_tradnl" sz="2000">
                <a:latin typeface="Verdana" pitchFamily="34" charset="0"/>
              </a:rPr>
              <a:t>Ej.	índice   indice     indc     indicee     indice2	indice3</a:t>
            </a:r>
          </a:p>
          <a:p>
            <a:pPr marL="609600" indent="-609600">
              <a:buFontTx/>
              <a:buAutoNum type="arabicPeriod" startAt="5"/>
            </a:pPr>
            <a:r>
              <a:rPr lang="es-ES_tradnl" sz="2000">
                <a:latin typeface="Verdana" pitchFamily="34" charset="0"/>
              </a:rPr>
              <a:t>Evitar nombres elegantes cuyo significado tiene poca o nula relación con el problema.</a:t>
            </a:r>
          </a:p>
          <a:p>
            <a:pPr marL="609600" indent="-609600">
              <a:buFontTx/>
              <a:buNone/>
            </a:pPr>
            <a:r>
              <a:rPr lang="es-ES_tradnl" sz="2000">
                <a:latin typeface="Verdana" pitchFamily="34" charset="0"/>
              </a:rPr>
              <a:t>Ej.	</a:t>
            </a:r>
            <a:r>
              <a:rPr lang="es-ES_tradnl" sz="2000" b="1">
                <a:latin typeface="Verdana" pitchFamily="34" charset="0"/>
              </a:rPr>
              <a:t>while</a:t>
            </a:r>
            <a:r>
              <a:rPr lang="es-ES_tradnl" sz="2000">
                <a:latin typeface="Verdana" pitchFamily="34" charset="0"/>
              </a:rPr>
              <a:t> TV </a:t>
            </a:r>
            <a:r>
              <a:rPr lang="es-ES_tradnl" sz="2000" b="1">
                <a:latin typeface="Verdana" pitchFamily="34" charset="0"/>
              </a:rPr>
              <a:t>in</a:t>
            </a:r>
            <a:r>
              <a:rPr lang="es-ES_tradnl" sz="2000">
                <a:latin typeface="Verdana" pitchFamily="34" charset="0"/>
              </a:rPr>
              <a:t> empeño </a:t>
            </a:r>
            <a:r>
              <a:rPr lang="es-ES_tradnl" sz="2000" b="1">
                <a:latin typeface="Verdana" pitchFamily="34" charset="0"/>
              </a:rPr>
              <a:t>do</a:t>
            </a:r>
            <a:r>
              <a:rPr lang="es-ES_tradnl" sz="2000">
                <a:latin typeface="Verdana" pitchFamily="34" charset="0"/>
              </a:rPr>
              <a:t> estudiar;</a:t>
            </a:r>
          </a:p>
          <a:p>
            <a:pPr marL="609600" indent="-609600">
              <a:buFontTx/>
              <a:buNone/>
            </a:pPr>
            <a:r>
              <a:rPr lang="es-ES_tradnl" sz="2000">
                <a:latin typeface="Verdana" pitchFamily="34" charset="0"/>
              </a:rPr>
              <a:t>	</a:t>
            </a:r>
            <a:r>
              <a:rPr lang="es-ES_tradnl" sz="2000" b="1">
                <a:latin typeface="Verdana" pitchFamily="34" charset="0"/>
              </a:rPr>
              <a:t>if not</a:t>
            </a:r>
            <a:r>
              <a:rPr lang="es-ES_tradnl" sz="2000">
                <a:latin typeface="Verdana" pitchFamily="34" charset="0"/>
              </a:rPr>
              <a:t> tengosueño </a:t>
            </a:r>
            <a:r>
              <a:rPr lang="es-ES_tradnl" sz="2000" b="1">
                <a:latin typeface="Verdana" pitchFamily="34" charset="0"/>
              </a:rPr>
              <a:t>then</a:t>
            </a:r>
            <a:r>
              <a:rPr lang="es-ES_tradnl" sz="2000">
                <a:latin typeface="Verdana" pitchFamily="34" charset="0"/>
              </a:rPr>
              <a:t> jugar</a:t>
            </a:r>
            <a:r>
              <a:rPr lang="es-ES_tradnl" sz="2000" b="1">
                <a:latin typeface="Verdana" pitchFamily="34" charset="0"/>
              </a:rPr>
              <a:t> else</a:t>
            </a:r>
            <a:r>
              <a:rPr lang="es-ES_tradnl" sz="2000">
                <a:latin typeface="Verdana" pitchFamily="34" charset="0"/>
              </a:rPr>
              <a:t> siesta;</a:t>
            </a:r>
          </a:p>
          <a:p>
            <a:pPr marL="609600" indent="-609600">
              <a:buFontTx/>
              <a:buAutoNum type="arabicPeriod" startAt="6"/>
            </a:pPr>
            <a:r>
              <a:rPr lang="es-ES_tradnl" sz="2000">
                <a:latin typeface="Verdana" pitchFamily="34" charset="0"/>
              </a:rPr>
              <a:t>No escoger nombres que tengan una grafia semejante o que por otros motivos se confundirían fácilmente.</a:t>
            </a:r>
          </a:p>
          <a:p>
            <a:pPr marL="609600" indent="-609600">
              <a:buFontTx/>
              <a:buAutoNum type="arabicPeriod" startAt="6"/>
            </a:pPr>
            <a:r>
              <a:rPr lang="es-ES_tradnl" sz="2000">
                <a:latin typeface="Verdana" pitchFamily="34" charset="0"/>
              </a:rPr>
              <a:t>No se recomienda usar las letras l, 0, O en variables sólas.</a:t>
            </a:r>
          </a:p>
          <a:p>
            <a:pPr marL="609600" indent="-609600">
              <a:buFontTx/>
              <a:buNone/>
            </a:pPr>
            <a:r>
              <a:rPr lang="es-ES_tradnl" sz="2000">
                <a:latin typeface="Verdana" pitchFamily="34" charset="0"/>
              </a:rPr>
              <a:t>Ej.	l := 1; x :=1; x := l; x := O;</a:t>
            </a:r>
            <a:endParaRPr lang="es-ES" sz="2000">
              <a:latin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12" dur="500"/>
                                        <p:tgtEl>
                                          <p:spTgt spid="102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17" dur="500"/>
                                        <p:tgtEl>
                                          <p:spTgt spid="102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243">
                                            <p:txEl>
                                              <p:pRg st="3" end="3"/>
                                            </p:txEl>
                                          </p:spTgt>
                                        </p:tgtEl>
                                        <p:attrNameLst>
                                          <p:attrName>style.visibility</p:attrName>
                                        </p:attrNameLst>
                                      </p:cBhvr>
                                      <p:to>
                                        <p:strVal val="visible"/>
                                      </p:to>
                                    </p:set>
                                    <p:animEffect transition="in" filter="blinds(horizontal)">
                                      <p:cBhvr>
                                        <p:cTn id="22" dur="500"/>
                                        <p:tgtEl>
                                          <p:spTgt spid="1024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243">
                                            <p:txEl>
                                              <p:pRg st="4" end="4"/>
                                            </p:txEl>
                                          </p:spTgt>
                                        </p:tgtEl>
                                        <p:attrNameLst>
                                          <p:attrName>style.visibility</p:attrName>
                                        </p:attrNameLst>
                                      </p:cBhvr>
                                      <p:to>
                                        <p:strVal val="visible"/>
                                      </p:to>
                                    </p:set>
                                    <p:animEffect transition="in" filter="blinds(horizontal)">
                                      <p:cBhvr>
                                        <p:cTn id="27" dur="500"/>
                                        <p:tgtEl>
                                          <p:spTgt spid="1024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243">
                                            <p:txEl>
                                              <p:pRg st="5" end="5"/>
                                            </p:txEl>
                                          </p:spTgt>
                                        </p:tgtEl>
                                        <p:attrNameLst>
                                          <p:attrName>style.visibility</p:attrName>
                                        </p:attrNameLst>
                                      </p:cBhvr>
                                      <p:to>
                                        <p:strVal val="visible"/>
                                      </p:to>
                                    </p:set>
                                    <p:animEffect transition="in" filter="blinds(horizontal)">
                                      <p:cBhvr>
                                        <p:cTn id="32" dur="500"/>
                                        <p:tgtEl>
                                          <p:spTgt spid="1024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0243">
                                            <p:txEl>
                                              <p:pRg st="6" end="6"/>
                                            </p:txEl>
                                          </p:spTgt>
                                        </p:tgtEl>
                                        <p:attrNameLst>
                                          <p:attrName>style.visibility</p:attrName>
                                        </p:attrNameLst>
                                      </p:cBhvr>
                                      <p:to>
                                        <p:strVal val="visible"/>
                                      </p:to>
                                    </p:set>
                                    <p:animEffect transition="in" filter="blinds(horizontal)">
                                      <p:cBhvr>
                                        <p:cTn id="37" dur="500"/>
                                        <p:tgtEl>
                                          <p:spTgt spid="1024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0243">
                                            <p:txEl>
                                              <p:pRg st="7" end="7"/>
                                            </p:txEl>
                                          </p:spTgt>
                                        </p:tgtEl>
                                        <p:attrNameLst>
                                          <p:attrName>style.visibility</p:attrName>
                                        </p:attrNameLst>
                                      </p:cBhvr>
                                      <p:to>
                                        <p:strVal val="visible"/>
                                      </p:to>
                                    </p:set>
                                    <p:animEffect transition="in" filter="blinds(horizontal)">
                                      <p:cBhvr>
                                        <p:cTn id="42" dur="500"/>
                                        <p:tgtEl>
                                          <p:spTgt spid="102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04800" y="152400"/>
            <a:ext cx="7772400" cy="685800"/>
          </a:xfrm>
        </p:spPr>
        <p:txBody>
          <a:bodyPr/>
          <a:lstStyle/>
          <a:p>
            <a:pPr algn="l"/>
            <a:r>
              <a:rPr lang="es-ES_tradnl" sz="3200">
                <a:latin typeface="Verdana" pitchFamily="34" charset="0"/>
              </a:rPr>
              <a:t>Principios de programación</a:t>
            </a:r>
            <a:endParaRPr lang="es-ES" sz="3200">
              <a:latin typeface="Verdana" pitchFamily="34" charset="0"/>
            </a:endParaRPr>
          </a:p>
        </p:txBody>
      </p:sp>
      <p:sp>
        <p:nvSpPr>
          <p:cNvPr id="11267" name="Rectangle 3"/>
          <p:cNvSpPr>
            <a:spLocks noGrp="1" noChangeArrowheads="1"/>
          </p:cNvSpPr>
          <p:nvPr>
            <p:ph idx="1"/>
          </p:nvPr>
        </p:nvSpPr>
        <p:spPr>
          <a:xfrm>
            <a:off x="228600" y="914400"/>
            <a:ext cx="8686800" cy="5715000"/>
          </a:xfrm>
        </p:spPr>
        <p:txBody>
          <a:bodyPr>
            <a:normAutofit lnSpcReduction="10000"/>
          </a:bodyPr>
          <a:lstStyle/>
          <a:p>
            <a:pPr marL="609600" indent="-609600">
              <a:lnSpc>
                <a:spcPct val="90000"/>
              </a:lnSpc>
            </a:pPr>
            <a:r>
              <a:rPr lang="es-ES_tradnl" sz="2000">
                <a:solidFill>
                  <a:schemeClr val="tx2"/>
                </a:solidFill>
                <a:latin typeface="Verdana" pitchFamily="34" charset="0"/>
              </a:rPr>
              <a:t>Documentación y formato:</a:t>
            </a:r>
            <a:r>
              <a:rPr lang="es-ES_tradnl" sz="2000">
                <a:latin typeface="Verdana" pitchFamily="34" charset="0"/>
              </a:rPr>
              <a:t> Es conveniente tanto para programas pequeños, y mucho más para programas extensos, hacerse el hábito de documentar el programa.  Es más una de las tareas más interesantes es la de documentar antes de iniciar el programa.</a:t>
            </a:r>
          </a:p>
          <a:p>
            <a:pPr marL="609600" indent="-609600">
              <a:lnSpc>
                <a:spcPct val="90000"/>
              </a:lnSpc>
              <a:buFontTx/>
              <a:buNone/>
            </a:pPr>
            <a:r>
              <a:rPr lang="es-ES_tradnl" sz="2000">
                <a:solidFill>
                  <a:schemeClr val="accent1"/>
                </a:solidFill>
                <a:latin typeface="Verdana" pitchFamily="34" charset="0"/>
              </a:rPr>
              <a:t>Regla de programación</a:t>
            </a:r>
          </a:p>
          <a:p>
            <a:pPr marL="609600" indent="-609600">
              <a:lnSpc>
                <a:spcPct val="90000"/>
              </a:lnSpc>
              <a:buFontTx/>
              <a:buNone/>
            </a:pPr>
            <a:r>
              <a:rPr lang="es-ES_tradnl" sz="2000">
                <a:solidFill>
                  <a:schemeClr val="accent1"/>
                </a:solidFill>
                <a:latin typeface="Verdana" pitchFamily="34" charset="0"/>
              </a:rPr>
              <a:t>	El tiempo de lectura de los programas es mucho más largo que el de escritura.  Haga que la lectura sea fácil.</a:t>
            </a:r>
          </a:p>
          <a:p>
            <a:pPr marL="609600" indent="-609600">
              <a:lnSpc>
                <a:spcPct val="90000"/>
              </a:lnSpc>
              <a:buFontTx/>
              <a:buAutoNum type="arabicPeriod"/>
            </a:pPr>
            <a:r>
              <a:rPr lang="es-ES_tradnl" sz="2000">
                <a:latin typeface="Verdana" pitchFamily="34" charset="0"/>
              </a:rPr>
              <a:t>Se pone un prólogo al inicio de cada subprograma.</a:t>
            </a:r>
          </a:p>
          <a:p>
            <a:pPr marL="609600" indent="-609600">
              <a:lnSpc>
                <a:spcPct val="90000"/>
              </a:lnSpc>
              <a:buFontTx/>
              <a:buAutoNum type="arabicPeriod"/>
            </a:pPr>
            <a:r>
              <a:rPr lang="es-ES_tradnl" sz="2000">
                <a:latin typeface="Verdana" pitchFamily="34" charset="0"/>
              </a:rPr>
              <a:t>Cuando cada variable se declare se le pone una explicación, o mejor, el nombre de la variable es evidente.</a:t>
            </a:r>
          </a:p>
          <a:p>
            <a:pPr marL="609600" indent="-609600">
              <a:lnSpc>
                <a:spcPct val="90000"/>
              </a:lnSpc>
              <a:buFontTx/>
              <a:buAutoNum type="arabicPeriod"/>
            </a:pPr>
            <a:r>
              <a:rPr lang="es-ES_tradnl" sz="2000">
                <a:latin typeface="Verdana" pitchFamily="34" charset="0"/>
              </a:rPr>
              <a:t>Se introduce cada sección importante del programa con un comentario breve que explica su finalidad.</a:t>
            </a:r>
          </a:p>
          <a:p>
            <a:pPr marL="609600" indent="-609600">
              <a:lnSpc>
                <a:spcPct val="90000"/>
              </a:lnSpc>
              <a:buFontTx/>
              <a:buAutoNum type="arabicPeriod"/>
            </a:pPr>
            <a:r>
              <a:rPr lang="es-ES_tradnl" sz="2000">
                <a:latin typeface="Verdana" pitchFamily="34" charset="0"/>
              </a:rPr>
              <a:t>Se indica el final de esta sección, en caso de no ser obvio.</a:t>
            </a:r>
          </a:p>
          <a:p>
            <a:pPr marL="609600" indent="-609600">
              <a:lnSpc>
                <a:spcPct val="90000"/>
              </a:lnSpc>
              <a:buFontTx/>
              <a:buAutoNum type="arabicPeriod"/>
            </a:pPr>
            <a:r>
              <a:rPr lang="es-ES_tradnl" sz="2000">
                <a:latin typeface="Verdana" pitchFamily="34" charset="0"/>
              </a:rPr>
              <a:t>No se hacen comentarios que repitan lo que hace el programa.</a:t>
            </a:r>
          </a:p>
          <a:p>
            <a:pPr marL="609600" indent="-609600">
              <a:lnSpc>
                <a:spcPct val="90000"/>
              </a:lnSpc>
              <a:buFontTx/>
              <a:buNone/>
            </a:pPr>
            <a:r>
              <a:rPr lang="es-ES_tradnl" sz="2000">
                <a:latin typeface="Verdana" pitchFamily="34" charset="0"/>
              </a:rPr>
              <a:t>	Ej.	cont := cont + 1;   { aumentar el contador en 1 }</a:t>
            </a:r>
          </a:p>
          <a:p>
            <a:pPr marL="609600" indent="-609600">
              <a:lnSpc>
                <a:spcPct val="90000"/>
              </a:lnSpc>
              <a:buFontTx/>
              <a:buNone/>
            </a:pPr>
            <a:r>
              <a:rPr lang="es-ES_tradnl" sz="2000">
                <a:latin typeface="Verdana" pitchFamily="34" charset="0"/>
              </a:rPr>
              <a:t>6.	Mantener la documentación actualizada al modificar un programa.</a:t>
            </a:r>
            <a:endParaRPr lang="es-ES" sz="2000">
              <a:latin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blinds(horizontal)">
                                      <p:cBhvr>
                                        <p:cTn id="7" dur="5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blinds(horizontal)">
                                      <p:cBhvr>
                                        <p:cTn id="12" dur="500"/>
                                        <p:tgtEl>
                                          <p:spTgt spid="112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267">
                                            <p:txEl>
                                              <p:pRg st="2" end="2"/>
                                            </p:txEl>
                                          </p:spTgt>
                                        </p:tgtEl>
                                        <p:attrNameLst>
                                          <p:attrName>style.visibility</p:attrName>
                                        </p:attrNameLst>
                                      </p:cBhvr>
                                      <p:to>
                                        <p:strVal val="visible"/>
                                      </p:to>
                                    </p:set>
                                    <p:animEffect transition="in" filter="blinds(horizontal)">
                                      <p:cBhvr>
                                        <p:cTn id="17" dur="500"/>
                                        <p:tgtEl>
                                          <p:spTgt spid="112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267">
                                            <p:txEl>
                                              <p:pRg st="3" end="3"/>
                                            </p:txEl>
                                          </p:spTgt>
                                        </p:tgtEl>
                                        <p:attrNameLst>
                                          <p:attrName>style.visibility</p:attrName>
                                        </p:attrNameLst>
                                      </p:cBhvr>
                                      <p:to>
                                        <p:strVal val="visible"/>
                                      </p:to>
                                    </p:set>
                                    <p:animEffect transition="in" filter="blinds(horizontal)">
                                      <p:cBhvr>
                                        <p:cTn id="22" dur="500"/>
                                        <p:tgtEl>
                                          <p:spTgt spid="112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267">
                                            <p:txEl>
                                              <p:pRg st="4" end="4"/>
                                            </p:txEl>
                                          </p:spTgt>
                                        </p:tgtEl>
                                        <p:attrNameLst>
                                          <p:attrName>style.visibility</p:attrName>
                                        </p:attrNameLst>
                                      </p:cBhvr>
                                      <p:to>
                                        <p:strVal val="visible"/>
                                      </p:to>
                                    </p:set>
                                    <p:animEffect transition="in" filter="blinds(horizontal)">
                                      <p:cBhvr>
                                        <p:cTn id="27" dur="500"/>
                                        <p:tgtEl>
                                          <p:spTgt spid="112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267">
                                            <p:txEl>
                                              <p:pRg st="5" end="5"/>
                                            </p:txEl>
                                          </p:spTgt>
                                        </p:tgtEl>
                                        <p:attrNameLst>
                                          <p:attrName>style.visibility</p:attrName>
                                        </p:attrNameLst>
                                      </p:cBhvr>
                                      <p:to>
                                        <p:strVal val="visible"/>
                                      </p:to>
                                    </p:set>
                                    <p:animEffect transition="in" filter="blinds(horizontal)">
                                      <p:cBhvr>
                                        <p:cTn id="32" dur="500"/>
                                        <p:tgtEl>
                                          <p:spTgt spid="1126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267">
                                            <p:txEl>
                                              <p:pRg st="6" end="6"/>
                                            </p:txEl>
                                          </p:spTgt>
                                        </p:tgtEl>
                                        <p:attrNameLst>
                                          <p:attrName>style.visibility</p:attrName>
                                        </p:attrNameLst>
                                      </p:cBhvr>
                                      <p:to>
                                        <p:strVal val="visible"/>
                                      </p:to>
                                    </p:set>
                                    <p:animEffect transition="in" filter="blinds(horizontal)">
                                      <p:cBhvr>
                                        <p:cTn id="37" dur="500"/>
                                        <p:tgtEl>
                                          <p:spTgt spid="1126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267">
                                            <p:txEl>
                                              <p:pRg st="7" end="7"/>
                                            </p:txEl>
                                          </p:spTgt>
                                        </p:tgtEl>
                                        <p:attrNameLst>
                                          <p:attrName>style.visibility</p:attrName>
                                        </p:attrNameLst>
                                      </p:cBhvr>
                                      <p:to>
                                        <p:strVal val="visible"/>
                                      </p:to>
                                    </p:set>
                                    <p:animEffect transition="in" filter="blinds(horizontal)">
                                      <p:cBhvr>
                                        <p:cTn id="42" dur="500"/>
                                        <p:tgtEl>
                                          <p:spTgt spid="1126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1267">
                                            <p:txEl>
                                              <p:pRg st="8" end="8"/>
                                            </p:txEl>
                                          </p:spTgt>
                                        </p:tgtEl>
                                        <p:attrNameLst>
                                          <p:attrName>style.visibility</p:attrName>
                                        </p:attrNameLst>
                                      </p:cBhvr>
                                      <p:to>
                                        <p:strVal val="visible"/>
                                      </p:to>
                                    </p:set>
                                    <p:animEffect transition="in" filter="blinds(horizontal)">
                                      <p:cBhvr>
                                        <p:cTn id="47" dur="500"/>
                                        <p:tgtEl>
                                          <p:spTgt spid="1126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1267">
                                            <p:txEl>
                                              <p:pRg st="9" end="9"/>
                                            </p:txEl>
                                          </p:spTgt>
                                        </p:tgtEl>
                                        <p:attrNameLst>
                                          <p:attrName>style.visibility</p:attrName>
                                        </p:attrNameLst>
                                      </p:cBhvr>
                                      <p:to>
                                        <p:strVal val="visible"/>
                                      </p:to>
                                    </p:set>
                                    <p:animEffect transition="in" filter="blinds(horizontal)">
                                      <p:cBhvr>
                                        <p:cTn id="52" dur="500"/>
                                        <p:tgtEl>
                                          <p:spTgt spid="1126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04800" y="152400"/>
            <a:ext cx="7772400" cy="685800"/>
          </a:xfrm>
        </p:spPr>
        <p:txBody>
          <a:bodyPr/>
          <a:lstStyle/>
          <a:p>
            <a:pPr algn="l"/>
            <a:r>
              <a:rPr lang="es-ES_tradnl" sz="3200">
                <a:latin typeface="Verdana" pitchFamily="34" charset="0"/>
              </a:rPr>
              <a:t>Principios de programación</a:t>
            </a:r>
            <a:endParaRPr lang="es-ES" sz="3200">
              <a:latin typeface="Verdana" pitchFamily="34" charset="0"/>
            </a:endParaRPr>
          </a:p>
        </p:txBody>
      </p:sp>
      <p:sp>
        <p:nvSpPr>
          <p:cNvPr id="13315" name="Rectangle 3"/>
          <p:cNvSpPr>
            <a:spLocks noGrp="1" noChangeArrowheads="1"/>
          </p:cNvSpPr>
          <p:nvPr>
            <p:ph idx="1"/>
          </p:nvPr>
        </p:nvSpPr>
        <p:spPr>
          <a:xfrm>
            <a:off x="228600" y="914400"/>
            <a:ext cx="8686800" cy="5715000"/>
          </a:xfrm>
        </p:spPr>
        <p:txBody>
          <a:bodyPr/>
          <a:lstStyle/>
          <a:p>
            <a:pPr marL="609600" indent="-609600"/>
            <a:r>
              <a:rPr lang="es-ES_tradnl" sz="2000">
                <a:solidFill>
                  <a:schemeClr val="tx2"/>
                </a:solidFill>
                <a:latin typeface="Verdana" pitchFamily="34" charset="0"/>
              </a:rPr>
              <a:t>Refinamiento y modularidad:</a:t>
            </a:r>
            <a:r>
              <a:rPr lang="es-ES_tradnl" sz="2000">
                <a:latin typeface="Verdana" pitchFamily="34" charset="0"/>
              </a:rPr>
              <a:t> No son las computadoras sino las personas quienes resuelven los problemas. La clave para resolver el problema central es dividir este problema en varios problemas más pequeños.</a:t>
            </a:r>
          </a:p>
          <a:p>
            <a:pPr marL="609600" indent="-609600">
              <a:buFontTx/>
              <a:buNone/>
            </a:pPr>
            <a:r>
              <a:rPr lang="es-ES_tradnl" sz="2000">
                <a:solidFill>
                  <a:schemeClr val="accent1"/>
                </a:solidFill>
                <a:latin typeface="Verdana" pitchFamily="34" charset="0"/>
              </a:rPr>
              <a:t>Regla de programación</a:t>
            </a:r>
          </a:p>
          <a:p>
            <a:pPr marL="609600" indent="-609600">
              <a:buFontTx/>
              <a:buNone/>
            </a:pPr>
            <a:r>
              <a:rPr lang="es-ES_tradnl" sz="2000">
                <a:solidFill>
                  <a:schemeClr val="accent1"/>
                </a:solidFill>
                <a:latin typeface="Verdana" pitchFamily="34" charset="0"/>
              </a:rPr>
              <a:t>	No dejar que los árboles impidan ver el bosque.</a:t>
            </a:r>
          </a:p>
          <a:p>
            <a:pPr marL="609600" indent="-609600">
              <a:buFontTx/>
              <a:buNone/>
            </a:pPr>
            <a:r>
              <a:rPr lang="es-ES_tradnl" sz="2000">
                <a:latin typeface="Verdana" pitchFamily="34" charset="0"/>
              </a:rPr>
              <a:t>Esto se denomina </a:t>
            </a:r>
            <a:r>
              <a:rPr lang="es-ES_tradnl" sz="2000" b="1">
                <a:solidFill>
                  <a:schemeClr val="folHlink"/>
                </a:solidFill>
                <a:latin typeface="Verdana" pitchFamily="34" charset="0"/>
              </a:rPr>
              <a:t>refinamiento descendente</a:t>
            </a:r>
            <a:r>
              <a:rPr lang="es-ES_tradnl" sz="2000">
                <a:latin typeface="Verdana" pitchFamily="34" charset="0"/>
              </a:rPr>
              <a:t>, y es la clave para que programas extensos funcionen.</a:t>
            </a:r>
          </a:p>
          <a:p>
            <a:pPr marL="609600" indent="-609600">
              <a:buFontTx/>
              <a:buNone/>
            </a:pPr>
            <a:r>
              <a:rPr lang="es-ES_tradnl" sz="2000">
                <a:latin typeface="Verdana" pitchFamily="34" charset="0"/>
              </a:rPr>
              <a:t>	</a:t>
            </a:r>
            <a:r>
              <a:rPr lang="es-ES_tradnl" sz="2000">
                <a:solidFill>
                  <a:schemeClr val="accent1"/>
                </a:solidFill>
                <a:latin typeface="Verdana" pitchFamily="34" charset="0"/>
              </a:rPr>
              <a:t>Cada subprograma deberá ejecutar sólo una tarea para hacerlo bien.</a:t>
            </a:r>
          </a:p>
          <a:p>
            <a:pPr marL="609600" indent="-609600">
              <a:buFontTx/>
              <a:buNone/>
            </a:pPr>
            <a:r>
              <a:rPr lang="es-ES_tradnl" sz="2000">
                <a:latin typeface="Verdana" pitchFamily="34" charset="0"/>
              </a:rPr>
              <a:t>Cada subprograma debe poder ser descripto de manera sencilla.</a:t>
            </a:r>
          </a:p>
          <a:p>
            <a:pPr marL="609600" indent="-609600">
              <a:buFontTx/>
              <a:buNone/>
            </a:pPr>
            <a:r>
              <a:rPr lang="es-ES_tradnl" sz="2000">
                <a:latin typeface="Verdana" pitchFamily="34" charset="0"/>
              </a:rPr>
              <a:t>	</a:t>
            </a:r>
            <a:r>
              <a:rPr lang="es-ES_tradnl" sz="2000">
                <a:solidFill>
                  <a:schemeClr val="accent1"/>
                </a:solidFill>
                <a:latin typeface="Verdana" pitchFamily="34" charset="0"/>
              </a:rPr>
              <a:t>Cada subprograma deberá ocultar algo.</a:t>
            </a:r>
          </a:p>
          <a:p>
            <a:pPr marL="609600" indent="-609600">
              <a:buFontTx/>
              <a:buNone/>
            </a:pPr>
            <a:r>
              <a:rPr lang="es-ES_tradnl" sz="2000">
                <a:latin typeface="Verdana" pitchFamily="34" charset="0"/>
              </a:rPr>
              <a:t>Los subprogramas tienen sus propias tareas a realizar y sólo deben informar lo que sea necesario a los programas que lo llaman.</a:t>
            </a:r>
          </a:p>
          <a:p>
            <a:pPr marL="609600" indent="-609600" algn="r">
              <a:buFontTx/>
              <a:buNone/>
            </a:pPr>
            <a:r>
              <a:rPr lang="es-ES_tradnl" sz="2000">
                <a:solidFill>
                  <a:schemeClr val="folHlink"/>
                </a:solidFill>
                <a:latin typeface="Verdana" pitchFamily="34" charset="0"/>
              </a:rPr>
              <a:t>Ver ejercicios.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linds(horizontal)">
                                      <p:cBhvr>
                                        <p:cTn id="7" dur="500"/>
                                        <p:tgtEl>
                                          <p:spTgt spid="13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blinds(horizontal)">
                                      <p:cBhvr>
                                        <p:cTn id="12" dur="500"/>
                                        <p:tgtEl>
                                          <p:spTgt spid="133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Effect transition="in" filter="blinds(horizontal)">
                                      <p:cBhvr>
                                        <p:cTn id="17" dur="500"/>
                                        <p:tgtEl>
                                          <p:spTgt spid="133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315">
                                            <p:txEl>
                                              <p:pRg st="3" end="3"/>
                                            </p:txEl>
                                          </p:spTgt>
                                        </p:tgtEl>
                                        <p:attrNameLst>
                                          <p:attrName>style.visibility</p:attrName>
                                        </p:attrNameLst>
                                      </p:cBhvr>
                                      <p:to>
                                        <p:strVal val="visible"/>
                                      </p:to>
                                    </p:set>
                                    <p:animEffect transition="in" filter="blinds(horizontal)">
                                      <p:cBhvr>
                                        <p:cTn id="22" dur="500"/>
                                        <p:tgtEl>
                                          <p:spTgt spid="133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315">
                                            <p:txEl>
                                              <p:pRg st="4" end="4"/>
                                            </p:txEl>
                                          </p:spTgt>
                                        </p:tgtEl>
                                        <p:attrNameLst>
                                          <p:attrName>style.visibility</p:attrName>
                                        </p:attrNameLst>
                                      </p:cBhvr>
                                      <p:to>
                                        <p:strVal val="visible"/>
                                      </p:to>
                                    </p:set>
                                    <p:animEffect transition="in" filter="blinds(horizontal)">
                                      <p:cBhvr>
                                        <p:cTn id="27" dur="500"/>
                                        <p:tgtEl>
                                          <p:spTgt spid="133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3315">
                                            <p:txEl>
                                              <p:pRg st="5" end="5"/>
                                            </p:txEl>
                                          </p:spTgt>
                                        </p:tgtEl>
                                        <p:attrNameLst>
                                          <p:attrName>style.visibility</p:attrName>
                                        </p:attrNameLst>
                                      </p:cBhvr>
                                      <p:to>
                                        <p:strVal val="visible"/>
                                      </p:to>
                                    </p:set>
                                    <p:animEffect transition="in" filter="blinds(horizontal)">
                                      <p:cBhvr>
                                        <p:cTn id="32" dur="500"/>
                                        <p:tgtEl>
                                          <p:spTgt spid="1331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3315">
                                            <p:txEl>
                                              <p:pRg st="6" end="6"/>
                                            </p:txEl>
                                          </p:spTgt>
                                        </p:tgtEl>
                                        <p:attrNameLst>
                                          <p:attrName>style.visibility</p:attrName>
                                        </p:attrNameLst>
                                      </p:cBhvr>
                                      <p:to>
                                        <p:strVal val="visible"/>
                                      </p:to>
                                    </p:set>
                                    <p:animEffect transition="in" filter="blinds(horizontal)">
                                      <p:cBhvr>
                                        <p:cTn id="37" dur="500"/>
                                        <p:tgtEl>
                                          <p:spTgt spid="1331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3315">
                                            <p:txEl>
                                              <p:pRg st="7" end="7"/>
                                            </p:txEl>
                                          </p:spTgt>
                                        </p:tgtEl>
                                        <p:attrNameLst>
                                          <p:attrName>style.visibility</p:attrName>
                                        </p:attrNameLst>
                                      </p:cBhvr>
                                      <p:to>
                                        <p:strVal val="visible"/>
                                      </p:to>
                                    </p:set>
                                    <p:animEffect transition="in" filter="blinds(horizontal)">
                                      <p:cBhvr>
                                        <p:cTn id="42" dur="500"/>
                                        <p:tgtEl>
                                          <p:spTgt spid="1331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3315">
                                            <p:txEl>
                                              <p:pRg st="8" end="8"/>
                                            </p:txEl>
                                          </p:spTgt>
                                        </p:tgtEl>
                                        <p:attrNameLst>
                                          <p:attrName>style.visibility</p:attrName>
                                        </p:attrNameLst>
                                      </p:cBhvr>
                                      <p:to>
                                        <p:strVal val="visible"/>
                                      </p:to>
                                    </p:set>
                                    <p:animEffect transition="in" filter="blinds(horizontal)">
                                      <p:cBhvr>
                                        <p:cTn id="47" dur="500"/>
                                        <p:tgtEl>
                                          <p:spTgt spid="1331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04800" y="152400"/>
            <a:ext cx="7772400" cy="685800"/>
          </a:xfrm>
        </p:spPr>
        <p:txBody>
          <a:bodyPr/>
          <a:lstStyle/>
          <a:p>
            <a:pPr algn="l"/>
            <a:r>
              <a:rPr lang="es-ES_tradnl" sz="3200">
                <a:latin typeface="Verdana" pitchFamily="34" charset="0"/>
              </a:rPr>
              <a:t>Principios de programación</a:t>
            </a:r>
            <a:endParaRPr lang="es-ES" sz="3200">
              <a:latin typeface="Verdana" pitchFamily="34" charset="0"/>
            </a:endParaRPr>
          </a:p>
        </p:txBody>
      </p:sp>
      <p:sp>
        <p:nvSpPr>
          <p:cNvPr id="14339" name="Rectangle 3"/>
          <p:cNvSpPr>
            <a:spLocks noGrp="1" noChangeArrowheads="1"/>
          </p:cNvSpPr>
          <p:nvPr>
            <p:ph idx="1"/>
          </p:nvPr>
        </p:nvSpPr>
        <p:spPr>
          <a:xfrm>
            <a:off x="228600" y="914400"/>
            <a:ext cx="8686800" cy="5715000"/>
          </a:xfrm>
        </p:spPr>
        <p:txBody>
          <a:bodyPr/>
          <a:lstStyle/>
          <a:p>
            <a:pPr marL="609600" indent="-609600"/>
            <a:r>
              <a:rPr lang="es-ES_tradnl" sz="2000">
                <a:solidFill>
                  <a:schemeClr val="tx2"/>
                </a:solidFill>
                <a:latin typeface="Verdana" pitchFamily="34" charset="0"/>
              </a:rPr>
              <a:t>Codificación, prueba y refinamiento ulterior:</a:t>
            </a:r>
            <a:r>
              <a:rPr lang="es-ES_tradnl" sz="2000">
                <a:latin typeface="Verdana" pitchFamily="34" charset="0"/>
              </a:rPr>
              <a:t> Si bien este título va junto podemos analizarlo por separado, para interpretar todo su significado.</a:t>
            </a:r>
          </a:p>
          <a:p>
            <a:pPr marL="609600" indent="-609600">
              <a:buFontTx/>
              <a:buNone/>
            </a:pPr>
            <a:r>
              <a:rPr lang="es-ES_tradnl" sz="2000">
                <a:latin typeface="Verdana" pitchFamily="34" charset="0"/>
              </a:rPr>
              <a:t>La codificación es el proceso de escribir un algoritmo en la sintaxis correcta al lenguaje seleccionado.</a:t>
            </a:r>
          </a:p>
          <a:p>
            <a:pPr marL="609600" indent="-609600">
              <a:buFontTx/>
              <a:buNone/>
            </a:pPr>
            <a:r>
              <a:rPr lang="es-ES_tradnl" sz="2000">
                <a:latin typeface="Verdana" pitchFamily="34" charset="0"/>
              </a:rPr>
              <a:t>La prueba es el proceso consistente en correr el programa en los datos muestra seleccionados para encontrar los errores, si es que los hay.</a:t>
            </a:r>
          </a:p>
          <a:p>
            <a:pPr marL="609600" indent="-609600">
              <a:buFontTx/>
              <a:buNone/>
            </a:pPr>
            <a:r>
              <a:rPr lang="es-ES_tradnl" sz="2000">
                <a:latin typeface="Verdana" pitchFamily="34" charset="0"/>
              </a:rPr>
              <a:t>Para realizar un refinamiento ulterior recurrimos a los subprogramas todavía no escritos y repetimos estos pasos.</a:t>
            </a:r>
          </a:p>
          <a:p>
            <a:pPr marL="609600" indent="-609600">
              <a:buFontTx/>
              <a:buNone/>
            </a:pPr>
            <a:r>
              <a:rPr lang="es-ES_tradnl" sz="2000">
                <a:latin typeface="Verdana" pitchFamily="34" charset="0"/>
              </a:rPr>
              <a:t>	Para refinar se puede usar el método de los </a:t>
            </a:r>
            <a:r>
              <a:rPr lang="es-ES_tradnl" sz="2000">
                <a:solidFill>
                  <a:schemeClr val="folHlink"/>
                </a:solidFill>
                <a:latin typeface="Verdana" pitchFamily="34" charset="0"/>
              </a:rPr>
              <a:t>CABOS</a:t>
            </a:r>
            <a:r>
              <a:rPr lang="es-ES_tradnl" sz="2000">
                <a:latin typeface="Verdana" pitchFamily="34" charset="0"/>
              </a:rPr>
              <a:t>.</a:t>
            </a:r>
          </a:p>
          <a:p>
            <a:pPr marL="609600" indent="-609600">
              <a:buFontTx/>
              <a:buNone/>
            </a:pPr>
            <a:r>
              <a:rPr lang="es-ES_tradnl" sz="2000">
                <a:latin typeface="Verdana" pitchFamily="34" charset="0"/>
              </a:rPr>
              <a:t>	EJ. Proceso Inicializar()</a:t>
            </a:r>
          </a:p>
          <a:p>
            <a:pPr marL="609600" indent="-609600">
              <a:buFontTx/>
              <a:buNone/>
            </a:pPr>
            <a:r>
              <a:rPr lang="es-ES_tradnl" sz="2000">
                <a:latin typeface="Verdana" pitchFamily="34" charset="0"/>
              </a:rPr>
              <a:t>		  Proceso EscribeMapa()</a:t>
            </a:r>
          </a:p>
          <a:p>
            <a:pPr marL="609600" indent="-609600">
              <a:buFontTx/>
              <a:buNone/>
            </a:pPr>
            <a:r>
              <a:rPr lang="es-ES_tradnl" sz="2000">
                <a:latin typeface="Verdana" pitchFamily="34" charset="0"/>
              </a:rPr>
              <a:t>		  Funcion CuentaVecino( fila, columna ):valor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blinds(horizontal)">
                                      <p:cBhvr>
                                        <p:cTn id="7" dur="500"/>
                                        <p:tgtEl>
                                          <p:spTgt spid="14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339">
                                            <p:txEl>
                                              <p:pRg st="1" end="1"/>
                                            </p:txEl>
                                          </p:spTgt>
                                        </p:tgtEl>
                                        <p:attrNameLst>
                                          <p:attrName>style.visibility</p:attrName>
                                        </p:attrNameLst>
                                      </p:cBhvr>
                                      <p:to>
                                        <p:strVal val="visible"/>
                                      </p:to>
                                    </p:set>
                                    <p:animEffect transition="in" filter="blinds(horizontal)">
                                      <p:cBhvr>
                                        <p:cTn id="12" dur="500"/>
                                        <p:tgtEl>
                                          <p:spTgt spid="143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17" dur="500"/>
                                        <p:tgtEl>
                                          <p:spTgt spid="143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339">
                                            <p:txEl>
                                              <p:pRg st="3" end="3"/>
                                            </p:txEl>
                                          </p:spTgt>
                                        </p:tgtEl>
                                        <p:attrNameLst>
                                          <p:attrName>style.visibility</p:attrName>
                                        </p:attrNameLst>
                                      </p:cBhvr>
                                      <p:to>
                                        <p:strVal val="visible"/>
                                      </p:to>
                                    </p:set>
                                    <p:animEffect transition="in" filter="blinds(horizontal)">
                                      <p:cBhvr>
                                        <p:cTn id="22" dur="500"/>
                                        <p:tgtEl>
                                          <p:spTgt spid="143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339">
                                            <p:txEl>
                                              <p:pRg st="4" end="4"/>
                                            </p:txEl>
                                          </p:spTgt>
                                        </p:tgtEl>
                                        <p:attrNameLst>
                                          <p:attrName>style.visibility</p:attrName>
                                        </p:attrNameLst>
                                      </p:cBhvr>
                                      <p:to>
                                        <p:strVal val="visible"/>
                                      </p:to>
                                    </p:set>
                                    <p:animEffect transition="in" filter="blinds(horizontal)">
                                      <p:cBhvr>
                                        <p:cTn id="27" dur="500"/>
                                        <p:tgtEl>
                                          <p:spTgt spid="1433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339">
                                            <p:txEl>
                                              <p:pRg st="5" end="5"/>
                                            </p:txEl>
                                          </p:spTgt>
                                        </p:tgtEl>
                                        <p:attrNameLst>
                                          <p:attrName>style.visibility</p:attrName>
                                        </p:attrNameLst>
                                      </p:cBhvr>
                                      <p:to>
                                        <p:strVal val="visible"/>
                                      </p:to>
                                    </p:set>
                                    <p:animEffect transition="in" filter="blinds(horizontal)">
                                      <p:cBhvr>
                                        <p:cTn id="32" dur="500"/>
                                        <p:tgtEl>
                                          <p:spTgt spid="1433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4339">
                                            <p:txEl>
                                              <p:pRg st="6" end="6"/>
                                            </p:txEl>
                                          </p:spTgt>
                                        </p:tgtEl>
                                        <p:attrNameLst>
                                          <p:attrName>style.visibility</p:attrName>
                                        </p:attrNameLst>
                                      </p:cBhvr>
                                      <p:to>
                                        <p:strVal val="visible"/>
                                      </p:to>
                                    </p:set>
                                    <p:animEffect transition="in" filter="blinds(horizontal)">
                                      <p:cBhvr>
                                        <p:cTn id="37" dur="500"/>
                                        <p:tgtEl>
                                          <p:spTgt spid="1433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4339">
                                            <p:txEl>
                                              <p:pRg st="7" end="7"/>
                                            </p:txEl>
                                          </p:spTgt>
                                        </p:tgtEl>
                                        <p:attrNameLst>
                                          <p:attrName>style.visibility</p:attrName>
                                        </p:attrNameLst>
                                      </p:cBhvr>
                                      <p:to>
                                        <p:strVal val="visible"/>
                                      </p:to>
                                    </p:set>
                                    <p:animEffect transition="in" filter="blinds(horizontal)">
                                      <p:cBhvr>
                                        <p:cTn id="42" dur="500"/>
                                        <p:tgtEl>
                                          <p:spTgt spid="1433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04800" y="152400"/>
            <a:ext cx="7772400" cy="685800"/>
          </a:xfrm>
        </p:spPr>
        <p:txBody>
          <a:bodyPr>
            <a:normAutofit/>
          </a:bodyPr>
          <a:lstStyle/>
          <a:p>
            <a:pPr algn="l"/>
            <a:r>
              <a:rPr lang="es-ES_tradnl" sz="3200">
                <a:latin typeface="Verdana" pitchFamily="34" charset="0"/>
              </a:rPr>
              <a:t>Ejemplo: Función CuentaVecino()</a:t>
            </a:r>
            <a:endParaRPr lang="es-ES" sz="3200">
              <a:latin typeface="Verdana" pitchFamily="34" charset="0"/>
            </a:endParaRPr>
          </a:p>
        </p:txBody>
      </p:sp>
      <p:sp>
        <p:nvSpPr>
          <p:cNvPr id="19459" name="Rectangle 3"/>
          <p:cNvSpPr>
            <a:spLocks noGrp="1" noChangeArrowheads="1"/>
          </p:cNvSpPr>
          <p:nvPr>
            <p:ph idx="1"/>
          </p:nvPr>
        </p:nvSpPr>
        <p:spPr>
          <a:xfrm>
            <a:off x="179388" y="1916113"/>
            <a:ext cx="8686800" cy="4027487"/>
          </a:xfrm>
        </p:spPr>
        <p:txBody>
          <a:bodyPr/>
          <a:lstStyle/>
          <a:p>
            <a:pPr marL="609600" indent="-609600">
              <a:buFontTx/>
              <a:buNone/>
            </a:pPr>
            <a:r>
              <a:rPr lang="es-ES_tradnl" sz="1600">
                <a:latin typeface="Verdana" pitchFamily="34" charset="0"/>
              </a:rPr>
              <a:t>Funcion CuentaVecino( i, j )</a:t>
            </a:r>
          </a:p>
          <a:p>
            <a:pPr marL="609600" indent="-609600">
              <a:buFontTx/>
              <a:buNone/>
            </a:pPr>
            <a:r>
              <a:rPr lang="es-ES_tradnl" sz="1600">
                <a:latin typeface="Verdana" pitchFamily="34" charset="0"/>
              </a:rPr>
              <a:t>SI i = 1 ENTONCES xInferior = 1 SINO xInferior = i – 1</a:t>
            </a:r>
          </a:p>
          <a:p>
            <a:pPr marL="609600" indent="-609600">
              <a:buFontTx/>
              <a:buNone/>
            </a:pPr>
            <a:r>
              <a:rPr lang="es-ES_tradnl" sz="1600">
                <a:latin typeface="Verdana" pitchFamily="34" charset="0"/>
              </a:rPr>
              <a:t>SI i = Filas ENTONCES xSuperior = Filas SINO xSuperior = i + 1</a:t>
            </a:r>
          </a:p>
          <a:p>
            <a:pPr marL="609600" indent="-609600">
              <a:buFontTx/>
              <a:buNone/>
            </a:pPr>
            <a:r>
              <a:rPr lang="es-ES_tradnl" sz="1600">
                <a:latin typeface="Verdana" pitchFamily="34" charset="0"/>
              </a:rPr>
              <a:t>SI j = 1 ENTONCES yInferior = 1 SINO yInferior = j – 1</a:t>
            </a:r>
          </a:p>
          <a:p>
            <a:pPr marL="609600" indent="-609600">
              <a:buFontTx/>
              <a:buNone/>
            </a:pPr>
            <a:r>
              <a:rPr lang="es-ES_tradnl" sz="1600">
                <a:latin typeface="Verdana" pitchFamily="34" charset="0"/>
              </a:rPr>
              <a:t>SI j = Columnas ENTONCES ySuperior = Columnas SINO ySuperior = j + 1</a:t>
            </a:r>
          </a:p>
          <a:p>
            <a:pPr marL="609600" indent="-609600">
              <a:buFontTx/>
              <a:buNone/>
            </a:pPr>
            <a:r>
              <a:rPr lang="es-ES_tradnl" sz="1600">
                <a:latin typeface="Verdana" pitchFamily="34" charset="0"/>
              </a:rPr>
              <a:t>Contar = 0</a:t>
            </a:r>
          </a:p>
          <a:p>
            <a:pPr marL="609600" indent="-609600">
              <a:buFontTx/>
              <a:buNone/>
            </a:pPr>
            <a:r>
              <a:rPr lang="es-ES_tradnl" sz="1600">
                <a:latin typeface="Verdana" pitchFamily="34" charset="0"/>
              </a:rPr>
              <a:t>DESDE x = xInferior HASTA xSuperior</a:t>
            </a:r>
          </a:p>
          <a:p>
            <a:pPr marL="609600" indent="-609600">
              <a:buFontTx/>
              <a:buNone/>
            </a:pPr>
            <a:r>
              <a:rPr lang="es-ES_tradnl" sz="1600">
                <a:latin typeface="Verdana" pitchFamily="34" charset="0"/>
              </a:rPr>
              <a:t>	DESDE y = yInferior HASTA ySuperior</a:t>
            </a:r>
          </a:p>
          <a:p>
            <a:pPr marL="609600" indent="-609600">
              <a:buFontTx/>
              <a:buNone/>
            </a:pPr>
            <a:r>
              <a:rPr lang="es-ES_tradnl" sz="1600">
                <a:latin typeface="Verdana" pitchFamily="34" charset="0"/>
              </a:rPr>
              <a:t>		SI mapa( x, y ) = viva ENTONCES contar = contar + 1</a:t>
            </a:r>
          </a:p>
          <a:p>
            <a:pPr marL="609600" indent="-609600">
              <a:buFontTx/>
              <a:buNone/>
            </a:pPr>
            <a:r>
              <a:rPr lang="es-ES_tradnl" sz="1600">
                <a:latin typeface="Verdana" pitchFamily="34" charset="0"/>
              </a:rPr>
              <a:t>SI mapa( i, j ) = viva ENTONCES contar = contar - 1</a:t>
            </a:r>
          </a:p>
          <a:p>
            <a:pPr marL="609600" indent="-609600">
              <a:buFontTx/>
              <a:buNone/>
            </a:pPr>
            <a:endParaRPr lang="es-ES_tradnl" sz="1600">
              <a:latin typeface="Verdana" pitchFamily="34" charset="0"/>
            </a:endParaRPr>
          </a:p>
          <a:p>
            <a:pPr marL="609600" indent="-609600">
              <a:buFontTx/>
              <a:buNone/>
            </a:pPr>
            <a:r>
              <a:rPr lang="es-ES_tradnl" sz="1600">
                <a:latin typeface="Verdana" pitchFamily="34" charset="0"/>
              </a:rPr>
              <a:t>CuentaVecino = contar</a:t>
            </a:r>
          </a:p>
          <a:p>
            <a:pPr marL="609600" indent="-609600">
              <a:buFontTx/>
              <a:buNone/>
            </a:pPr>
            <a:endParaRPr lang="es-ES_tradnl" sz="1600">
              <a:latin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blinds(horizontal)">
                                      <p:cBhvr>
                                        <p:cTn id="7" dur="500"/>
                                        <p:tgtEl>
                                          <p:spTgt spid="19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blinds(horizontal)">
                                      <p:cBhvr>
                                        <p:cTn id="12" dur="500"/>
                                        <p:tgtEl>
                                          <p:spTgt spid="194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459">
                                            <p:txEl>
                                              <p:pRg st="2" end="2"/>
                                            </p:txEl>
                                          </p:spTgt>
                                        </p:tgtEl>
                                        <p:attrNameLst>
                                          <p:attrName>style.visibility</p:attrName>
                                        </p:attrNameLst>
                                      </p:cBhvr>
                                      <p:to>
                                        <p:strVal val="visible"/>
                                      </p:to>
                                    </p:set>
                                    <p:animEffect transition="in" filter="blinds(horizontal)">
                                      <p:cBhvr>
                                        <p:cTn id="17" dur="500"/>
                                        <p:tgtEl>
                                          <p:spTgt spid="194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9459">
                                            <p:txEl>
                                              <p:pRg st="3" end="3"/>
                                            </p:txEl>
                                          </p:spTgt>
                                        </p:tgtEl>
                                        <p:attrNameLst>
                                          <p:attrName>style.visibility</p:attrName>
                                        </p:attrNameLst>
                                      </p:cBhvr>
                                      <p:to>
                                        <p:strVal val="visible"/>
                                      </p:to>
                                    </p:set>
                                    <p:animEffect transition="in" filter="blinds(horizontal)">
                                      <p:cBhvr>
                                        <p:cTn id="22" dur="500"/>
                                        <p:tgtEl>
                                          <p:spTgt spid="1945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9459">
                                            <p:txEl>
                                              <p:pRg st="4" end="4"/>
                                            </p:txEl>
                                          </p:spTgt>
                                        </p:tgtEl>
                                        <p:attrNameLst>
                                          <p:attrName>style.visibility</p:attrName>
                                        </p:attrNameLst>
                                      </p:cBhvr>
                                      <p:to>
                                        <p:strVal val="visible"/>
                                      </p:to>
                                    </p:set>
                                    <p:animEffect transition="in" filter="blinds(horizontal)">
                                      <p:cBhvr>
                                        <p:cTn id="27" dur="500"/>
                                        <p:tgtEl>
                                          <p:spTgt spid="1945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9459">
                                            <p:txEl>
                                              <p:pRg st="5" end="5"/>
                                            </p:txEl>
                                          </p:spTgt>
                                        </p:tgtEl>
                                        <p:attrNameLst>
                                          <p:attrName>style.visibility</p:attrName>
                                        </p:attrNameLst>
                                      </p:cBhvr>
                                      <p:to>
                                        <p:strVal val="visible"/>
                                      </p:to>
                                    </p:set>
                                    <p:animEffect transition="in" filter="blinds(horizontal)">
                                      <p:cBhvr>
                                        <p:cTn id="32" dur="500"/>
                                        <p:tgtEl>
                                          <p:spTgt spid="1945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9459">
                                            <p:txEl>
                                              <p:pRg st="6" end="6"/>
                                            </p:txEl>
                                          </p:spTgt>
                                        </p:tgtEl>
                                        <p:attrNameLst>
                                          <p:attrName>style.visibility</p:attrName>
                                        </p:attrNameLst>
                                      </p:cBhvr>
                                      <p:to>
                                        <p:strVal val="visible"/>
                                      </p:to>
                                    </p:set>
                                    <p:animEffect transition="in" filter="blinds(horizontal)">
                                      <p:cBhvr>
                                        <p:cTn id="37" dur="500"/>
                                        <p:tgtEl>
                                          <p:spTgt spid="1945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9459">
                                            <p:txEl>
                                              <p:pRg st="7" end="7"/>
                                            </p:txEl>
                                          </p:spTgt>
                                        </p:tgtEl>
                                        <p:attrNameLst>
                                          <p:attrName>style.visibility</p:attrName>
                                        </p:attrNameLst>
                                      </p:cBhvr>
                                      <p:to>
                                        <p:strVal val="visible"/>
                                      </p:to>
                                    </p:set>
                                    <p:animEffect transition="in" filter="blinds(horizontal)">
                                      <p:cBhvr>
                                        <p:cTn id="42" dur="500"/>
                                        <p:tgtEl>
                                          <p:spTgt spid="1945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9459">
                                            <p:txEl>
                                              <p:pRg st="8" end="8"/>
                                            </p:txEl>
                                          </p:spTgt>
                                        </p:tgtEl>
                                        <p:attrNameLst>
                                          <p:attrName>style.visibility</p:attrName>
                                        </p:attrNameLst>
                                      </p:cBhvr>
                                      <p:to>
                                        <p:strVal val="visible"/>
                                      </p:to>
                                    </p:set>
                                    <p:animEffect transition="in" filter="blinds(horizontal)">
                                      <p:cBhvr>
                                        <p:cTn id="47" dur="500"/>
                                        <p:tgtEl>
                                          <p:spTgt spid="1945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9459">
                                            <p:txEl>
                                              <p:pRg st="9" end="9"/>
                                            </p:txEl>
                                          </p:spTgt>
                                        </p:tgtEl>
                                        <p:attrNameLst>
                                          <p:attrName>style.visibility</p:attrName>
                                        </p:attrNameLst>
                                      </p:cBhvr>
                                      <p:to>
                                        <p:strVal val="visible"/>
                                      </p:to>
                                    </p:set>
                                    <p:animEffect transition="in" filter="blinds(horizontal)">
                                      <p:cBhvr>
                                        <p:cTn id="52" dur="500"/>
                                        <p:tgtEl>
                                          <p:spTgt spid="1945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9459">
                                            <p:txEl>
                                              <p:pRg st="11" end="11"/>
                                            </p:txEl>
                                          </p:spTgt>
                                        </p:tgtEl>
                                        <p:attrNameLst>
                                          <p:attrName>style.visibility</p:attrName>
                                        </p:attrNameLst>
                                      </p:cBhvr>
                                      <p:to>
                                        <p:strVal val="visible"/>
                                      </p:to>
                                    </p:set>
                                    <p:animEffect transition="in" filter="blinds(horizontal)">
                                      <p:cBhvr>
                                        <p:cTn id="57" dur="500"/>
                                        <p:tgtEl>
                                          <p:spTgt spid="1945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04800" y="152400"/>
            <a:ext cx="8299450" cy="685800"/>
          </a:xfrm>
        </p:spPr>
        <p:txBody>
          <a:bodyPr>
            <a:normAutofit fontScale="90000"/>
          </a:bodyPr>
          <a:lstStyle/>
          <a:p>
            <a:pPr algn="l"/>
            <a:r>
              <a:rPr lang="es-ES_tradnl" sz="3200">
                <a:latin typeface="Verdana" pitchFamily="34" charset="0"/>
              </a:rPr>
              <a:t>Principios de prueba de Programación</a:t>
            </a:r>
            <a:endParaRPr lang="es-ES" sz="3200">
              <a:latin typeface="Verdana" pitchFamily="34" charset="0"/>
            </a:endParaRPr>
          </a:p>
        </p:txBody>
      </p:sp>
      <p:sp>
        <p:nvSpPr>
          <p:cNvPr id="20483" name="Rectangle 3"/>
          <p:cNvSpPr>
            <a:spLocks noGrp="1" noChangeArrowheads="1"/>
          </p:cNvSpPr>
          <p:nvPr>
            <p:ph idx="1"/>
          </p:nvPr>
        </p:nvSpPr>
        <p:spPr>
          <a:xfrm>
            <a:off x="179388" y="1916113"/>
            <a:ext cx="8686800" cy="4027487"/>
          </a:xfrm>
        </p:spPr>
        <p:txBody>
          <a:bodyPr/>
          <a:lstStyle/>
          <a:p>
            <a:pPr marL="609600" indent="-609600">
              <a:buFontTx/>
              <a:buNone/>
            </a:pPr>
            <a:r>
              <a:rPr lang="es-ES_tradnl" sz="1600">
                <a:latin typeface="Verdana" pitchFamily="34" charset="0"/>
              </a:rPr>
              <a:t>Funcion CuentaVecino( i, j )</a:t>
            </a:r>
          </a:p>
          <a:p>
            <a:pPr marL="609600" indent="-609600">
              <a:buFontTx/>
              <a:buNone/>
            </a:pPr>
            <a:r>
              <a:rPr lang="es-ES_tradnl" sz="1600">
                <a:latin typeface="Verdana" pitchFamily="34" charset="0"/>
              </a:rPr>
              <a:t>SI i = 1 ENTONCES xInferior = 1 SINO xInferior = i – 1</a:t>
            </a:r>
          </a:p>
          <a:p>
            <a:pPr marL="609600" indent="-609600">
              <a:buFontTx/>
              <a:buNone/>
            </a:pPr>
            <a:r>
              <a:rPr lang="es-ES_tradnl" sz="1600">
                <a:latin typeface="Verdana" pitchFamily="34" charset="0"/>
              </a:rPr>
              <a:t>SI i = Filas ENTONCES xSuperior = Filas SINO xSuperior = i + 1</a:t>
            </a:r>
          </a:p>
          <a:p>
            <a:pPr marL="609600" indent="-609600">
              <a:buFontTx/>
              <a:buNone/>
            </a:pPr>
            <a:r>
              <a:rPr lang="es-ES_tradnl" sz="1600">
                <a:latin typeface="Verdana" pitchFamily="34" charset="0"/>
              </a:rPr>
              <a:t>SI j = 1 ENTONCES yInferior = 1 SINO yInferior = j – 1</a:t>
            </a:r>
          </a:p>
          <a:p>
            <a:pPr marL="609600" indent="-609600">
              <a:buFontTx/>
              <a:buNone/>
            </a:pPr>
            <a:r>
              <a:rPr lang="es-ES_tradnl" sz="1600">
                <a:latin typeface="Verdana" pitchFamily="34" charset="0"/>
              </a:rPr>
              <a:t>SI j = Columnas ENTONCES ySuperior = Columnas SINO ySuperior = j + 1</a:t>
            </a:r>
          </a:p>
          <a:p>
            <a:pPr marL="609600" indent="-609600">
              <a:buFontTx/>
              <a:buNone/>
            </a:pPr>
            <a:r>
              <a:rPr lang="es-ES_tradnl" sz="1600">
                <a:latin typeface="Verdana" pitchFamily="34" charset="0"/>
              </a:rPr>
              <a:t>Contar = 0</a:t>
            </a:r>
          </a:p>
          <a:p>
            <a:pPr marL="609600" indent="-609600">
              <a:buFontTx/>
              <a:buNone/>
            </a:pPr>
            <a:r>
              <a:rPr lang="es-ES_tradnl" sz="1600">
                <a:latin typeface="Verdana" pitchFamily="34" charset="0"/>
              </a:rPr>
              <a:t>DESDE x = xInferior HASTA xSuperior</a:t>
            </a:r>
          </a:p>
          <a:p>
            <a:pPr marL="609600" indent="-609600">
              <a:buFontTx/>
              <a:buNone/>
            </a:pPr>
            <a:r>
              <a:rPr lang="es-ES_tradnl" sz="1600">
                <a:latin typeface="Verdana" pitchFamily="34" charset="0"/>
              </a:rPr>
              <a:t>	DESDE y = yInferior HASTA ySuperior</a:t>
            </a:r>
          </a:p>
          <a:p>
            <a:pPr marL="609600" indent="-609600">
              <a:buFontTx/>
              <a:buNone/>
            </a:pPr>
            <a:r>
              <a:rPr lang="es-ES_tradnl" sz="1600">
                <a:latin typeface="Verdana" pitchFamily="34" charset="0"/>
              </a:rPr>
              <a:t>		SI mapa( x, y ) = viva ENTONCES contar = contar + 1</a:t>
            </a:r>
          </a:p>
          <a:p>
            <a:pPr marL="609600" indent="-609600">
              <a:buFontTx/>
              <a:buNone/>
            </a:pPr>
            <a:r>
              <a:rPr lang="es-ES_tradnl" sz="1600">
                <a:latin typeface="Verdana" pitchFamily="34" charset="0"/>
              </a:rPr>
              <a:t>SI mapa( i, j ) = viva ENTONCES contar = contar - 1</a:t>
            </a:r>
          </a:p>
          <a:p>
            <a:pPr marL="609600" indent="-609600">
              <a:buFontTx/>
              <a:buNone/>
            </a:pPr>
            <a:endParaRPr lang="es-ES_tradnl" sz="1600">
              <a:latin typeface="Verdana" pitchFamily="34" charset="0"/>
            </a:endParaRPr>
          </a:p>
          <a:p>
            <a:pPr marL="609600" indent="-609600">
              <a:buFontTx/>
              <a:buNone/>
            </a:pPr>
            <a:r>
              <a:rPr lang="es-ES_tradnl" sz="1600">
                <a:latin typeface="Verdana" pitchFamily="34" charset="0"/>
              </a:rPr>
              <a:t>CuentaVecino = contar</a:t>
            </a:r>
          </a:p>
          <a:p>
            <a:pPr marL="609600" indent="-609600">
              <a:buFontTx/>
              <a:buNone/>
            </a:pPr>
            <a:endParaRPr lang="es-ES_tradnl" sz="1600">
              <a:latin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blinds(horizontal)">
                                      <p:cBhvr>
                                        <p:cTn id="7" dur="500"/>
                                        <p:tgtEl>
                                          <p:spTgt spid="20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483">
                                            <p:txEl>
                                              <p:pRg st="1" end="1"/>
                                            </p:txEl>
                                          </p:spTgt>
                                        </p:tgtEl>
                                        <p:attrNameLst>
                                          <p:attrName>style.visibility</p:attrName>
                                        </p:attrNameLst>
                                      </p:cBhvr>
                                      <p:to>
                                        <p:strVal val="visible"/>
                                      </p:to>
                                    </p:set>
                                    <p:animEffect transition="in" filter="blinds(horizontal)">
                                      <p:cBhvr>
                                        <p:cTn id="12" dur="500"/>
                                        <p:tgtEl>
                                          <p:spTgt spid="204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483">
                                            <p:txEl>
                                              <p:pRg st="2" end="2"/>
                                            </p:txEl>
                                          </p:spTgt>
                                        </p:tgtEl>
                                        <p:attrNameLst>
                                          <p:attrName>style.visibility</p:attrName>
                                        </p:attrNameLst>
                                      </p:cBhvr>
                                      <p:to>
                                        <p:strVal val="visible"/>
                                      </p:to>
                                    </p:set>
                                    <p:animEffect transition="in" filter="blinds(horizontal)">
                                      <p:cBhvr>
                                        <p:cTn id="17" dur="500"/>
                                        <p:tgtEl>
                                          <p:spTgt spid="204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483">
                                            <p:txEl>
                                              <p:pRg st="3" end="3"/>
                                            </p:txEl>
                                          </p:spTgt>
                                        </p:tgtEl>
                                        <p:attrNameLst>
                                          <p:attrName>style.visibility</p:attrName>
                                        </p:attrNameLst>
                                      </p:cBhvr>
                                      <p:to>
                                        <p:strVal val="visible"/>
                                      </p:to>
                                    </p:set>
                                    <p:animEffect transition="in" filter="blinds(horizontal)">
                                      <p:cBhvr>
                                        <p:cTn id="22" dur="500"/>
                                        <p:tgtEl>
                                          <p:spTgt spid="2048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483">
                                            <p:txEl>
                                              <p:pRg st="4" end="4"/>
                                            </p:txEl>
                                          </p:spTgt>
                                        </p:tgtEl>
                                        <p:attrNameLst>
                                          <p:attrName>style.visibility</p:attrName>
                                        </p:attrNameLst>
                                      </p:cBhvr>
                                      <p:to>
                                        <p:strVal val="visible"/>
                                      </p:to>
                                    </p:set>
                                    <p:animEffect transition="in" filter="blinds(horizontal)">
                                      <p:cBhvr>
                                        <p:cTn id="27" dur="500"/>
                                        <p:tgtEl>
                                          <p:spTgt spid="2048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0483">
                                            <p:txEl>
                                              <p:pRg st="5" end="5"/>
                                            </p:txEl>
                                          </p:spTgt>
                                        </p:tgtEl>
                                        <p:attrNameLst>
                                          <p:attrName>style.visibility</p:attrName>
                                        </p:attrNameLst>
                                      </p:cBhvr>
                                      <p:to>
                                        <p:strVal val="visible"/>
                                      </p:to>
                                    </p:set>
                                    <p:animEffect transition="in" filter="blinds(horizontal)">
                                      <p:cBhvr>
                                        <p:cTn id="32" dur="500"/>
                                        <p:tgtEl>
                                          <p:spTgt spid="2048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0483">
                                            <p:txEl>
                                              <p:pRg st="6" end="6"/>
                                            </p:txEl>
                                          </p:spTgt>
                                        </p:tgtEl>
                                        <p:attrNameLst>
                                          <p:attrName>style.visibility</p:attrName>
                                        </p:attrNameLst>
                                      </p:cBhvr>
                                      <p:to>
                                        <p:strVal val="visible"/>
                                      </p:to>
                                    </p:set>
                                    <p:animEffect transition="in" filter="blinds(horizontal)">
                                      <p:cBhvr>
                                        <p:cTn id="37" dur="500"/>
                                        <p:tgtEl>
                                          <p:spTgt spid="2048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0483">
                                            <p:txEl>
                                              <p:pRg st="7" end="7"/>
                                            </p:txEl>
                                          </p:spTgt>
                                        </p:tgtEl>
                                        <p:attrNameLst>
                                          <p:attrName>style.visibility</p:attrName>
                                        </p:attrNameLst>
                                      </p:cBhvr>
                                      <p:to>
                                        <p:strVal val="visible"/>
                                      </p:to>
                                    </p:set>
                                    <p:animEffect transition="in" filter="blinds(horizontal)">
                                      <p:cBhvr>
                                        <p:cTn id="42" dur="500"/>
                                        <p:tgtEl>
                                          <p:spTgt spid="2048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0483">
                                            <p:txEl>
                                              <p:pRg st="8" end="8"/>
                                            </p:txEl>
                                          </p:spTgt>
                                        </p:tgtEl>
                                        <p:attrNameLst>
                                          <p:attrName>style.visibility</p:attrName>
                                        </p:attrNameLst>
                                      </p:cBhvr>
                                      <p:to>
                                        <p:strVal val="visible"/>
                                      </p:to>
                                    </p:set>
                                    <p:animEffect transition="in" filter="blinds(horizontal)">
                                      <p:cBhvr>
                                        <p:cTn id="47" dur="500"/>
                                        <p:tgtEl>
                                          <p:spTgt spid="2048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0483">
                                            <p:txEl>
                                              <p:pRg st="9" end="9"/>
                                            </p:txEl>
                                          </p:spTgt>
                                        </p:tgtEl>
                                        <p:attrNameLst>
                                          <p:attrName>style.visibility</p:attrName>
                                        </p:attrNameLst>
                                      </p:cBhvr>
                                      <p:to>
                                        <p:strVal val="visible"/>
                                      </p:to>
                                    </p:set>
                                    <p:animEffect transition="in" filter="blinds(horizontal)">
                                      <p:cBhvr>
                                        <p:cTn id="52" dur="500"/>
                                        <p:tgtEl>
                                          <p:spTgt spid="2048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0483">
                                            <p:txEl>
                                              <p:pRg st="11" end="11"/>
                                            </p:txEl>
                                          </p:spTgt>
                                        </p:tgtEl>
                                        <p:attrNameLst>
                                          <p:attrName>style.visibility</p:attrName>
                                        </p:attrNameLst>
                                      </p:cBhvr>
                                      <p:to>
                                        <p:strVal val="visible"/>
                                      </p:to>
                                    </p:set>
                                    <p:animEffect transition="in" filter="blinds(horizontal)">
                                      <p:cBhvr>
                                        <p:cTn id="57" dur="500"/>
                                        <p:tgtEl>
                                          <p:spTgt spid="2048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04800" y="152400"/>
            <a:ext cx="8515350" cy="685800"/>
          </a:xfrm>
        </p:spPr>
        <p:txBody>
          <a:bodyPr>
            <a:normAutofit/>
          </a:bodyPr>
          <a:lstStyle/>
          <a:p>
            <a:pPr algn="l"/>
            <a:r>
              <a:rPr lang="es-ES_tradnl" sz="3200">
                <a:latin typeface="Verdana" pitchFamily="34" charset="0"/>
              </a:rPr>
              <a:t>Principios de prueba de programación</a:t>
            </a:r>
            <a:endParaRPr lang="es-ES" sz="3200">
              <a:latin typeface="Verdana" pitchFamily="34" charset="0"/>
            </a:endParaRPr>
          </a:p>
        </p:txBody>
      </p:sp>
      <p:sp>
        <p:nvSpPr>
          <p:cNvPr id="21507" name="Rectangle 3"/>
          <p:cNvSpPr>
            <a:spLocks noGrp="1" noChangeArrowheads="1"/>
          </p:cNvSpPr>
          <p:nvPr>
            <p:ph idx="1"/>
          </p:nvPr>
        </p:nvSpPr>
        <p:spPr>
          <a:xfrm>
            <a:off x="228600" y="914400"/>
            <a:ext cx="8686800" cy="5715000"/>
          </a:xfrm>
        </p:spPr>
        <p:txBody>
          <a:bodyPr>
            <a:normAutofit/>
          </a:bodyPr>
          <a:lstStyle/>
          <a:p>
            <a:pPr marL="609600" indent="-609600">
              <a:buFontTx/>
              <a:buNone/>
            </a:pPr>
            <a:r>
              <a:rPr lang="es-ES_tradnl" sz="1800">
                <a:solidFill>
                  <a:schemeClr val="accent1"/>
                </a:solidFill>
                <a:latin typeface="Verdana" pitchFamily="34" charset="0"/>
              </a:rPr>
              <a:t>Regla de programación</a:t>
            </a:r>
          </a:p>
          <a:p>
            <a:pPr marL="609600" indent="-609600">
              <a:buFontTx/>
              <a:buNone/>
            </a:pPr>
            <a:r>
              <a:rPr lang="es-ES_tradnl" sz="1800">
                <a:latin typeface="Verdana" pitchFamily="34" charset="0"/>
              </a:rPr>
              <a:t>	</a:t>
            </a:r>
            <a:r>
              <a:rPr lang="es-ES_tradnl" sz="1800">
                <a:solidFill>
                  <a:schemeClr val="accent1"/>
                </a:solidFill>
                <a:latin typeface="Verdana" pitchFamily="34" charset="0"/>
              </a:rPr>
              <a:t>La calidad de los datos de prueba es más importante que la cantidad.</a:t>
            </a:r>
          </a:p>
          <a:p>
            <a:pPr marL="609600" indent="-609600">
              <a:buFontTx/>
              <a:buNone/>
            </a:pPr>
            <a:endParaRPr lang="es-ES_tradnl" sz="1800">
              <a:solidFill>
                <a:schemeClr val="accent1"/>
              </a:solidFill>
              <a:latin typeface="Verdana" pitchFamily="34" charset="0"/>
            </a:endParaRPr>
          </a:p>
          <a:p>
            <a:pPr marL="609600" indent="-609600">
              <a:spcBef>
                <a:spcPct val="0"/>
              </a:spcBef>
              <a:buFontTx/>
              <a:buAutoNum type="arabicPeriod"/>
            </a:pPr>
            <a:r>
              <a:rPr lang="es-ES_tradnl" sz="1800">
                <a:latin typeface="Verdana" pitchFamily="34" charset="0"/>
              </a:rPr>
              <a:t>Método de caja negra.</a:t>
            </a:r>
          </a:p>
          <a:p>
            <a:pPr marL="609600" indent="-609600">
              <a:spcBef>
                <a:spcPct val="0"/>
              </a:spcBef>
              <a:buFontTx/>
              <a:buNone/>
            </a:pPr>
            <a:r>
              <a:rPr lang="es-ES_tradnl" sz="1800">
                <a:latin typeface="Verdana" pitchFamily="34" charset="0"/>
              </a:rPr>
              <a:t>	El usuario trata al programa como una caja negra, le importa entregar valores de entrada y ver su resultado.</a:t>
            </a:r>
          </a:p>
          <a:p>
            <a:pPr marL="609600" indent="-609600">
              <a:spcBef>
                <a:spcPct val="0"/>
              </a:spcBef>
              <a:buFontTx/>
              <a:buNone/>
            </a:pPr>
            <a:r>
              <a:rPr lang="es-ES_tradnl" sz="1800">
                <a:latin typeface="Verdana" pitchFamily="34" charset="0"/>
              </a:rPr>
              <a:t>	Los criterios mínimos que nos guiarán al escoger los datos de prueba son:</a:t>
            </a:r>
          </a:p>
          <a:p>
            <a:pPr marL="609600" indent="-609600">
              <a:spcBef>
                <a:spcPct val="0"/>
              </a:spcBef>
              <a:buFontTx/>
              <a:buNone/>
            </a:pPr>
            <a:r>
              <a:rPr lang="es-ES_tradnl" sz="1800">
                <a:latin typeface="Verdana" pitchFamily="34" charset="0"/>
              </a:rPr>
              <a:t>	Valores fáciles, valores típicos realistas, valores extremos, valores ilegales.</a:t>
            </a:r>
          </a:p>
          <a:p>
            <a:pPr marL="609600" indent="-609600">
              <a:spcBef>
                <a:spcPct val="0"/>
              </a:spcBef>
              <a:buFontTx/>
              <a:buAutoNum type="arabicPeriod" startAt="2"/>
            </a:pPr>
            <a:r>
              <a:rPr lang="es-ES_tradnl" sz="1800">
                <a:latin typeface="Verdana" pitchFamily="34" charset="0"/>
              </a:rPr>
              <a:t>Método de caja de cristal.</a:t>
            </a:r>
          </a:p>
          <a:p>
            <a:pPr marL="609600" indent="-609600">
              <a:spcBef>
                <a:spcPct val="0"/>
              </a:spcBef>
              <a:buFontTx/>
              <a:buNone/>
            </a:pPr>
            <a:r>
              <a:rPr lang="es-ES_tradnl" sz="1800">
                <a:latin typeface="Verdana" pitchFamily="34" charset="0"/>
              </a:rPr>
              <a:t>	El usuario desea probar todas las partes del sistema funcionando, para ello deberá generar todos los valores de entrada posible para que todas las partes del programa se prueben.</a:t>
            </a:r>
          </a:p>
          <a:p>
            <a:pPr marL="609600" indent="-609600">
              <a:spcBef>
                <a:spcPct val="0"/>
              </a:spcBef>
              <a:buFontTx/>
              <a:buNone/>
            </a:pPr>
            <a:r>
              <a:rPr lang="es-ES_tradnl" sz="1800">
                <a:latin typeface="Verdana" pitchFamily="34" charset="0"/>
              </a:rPr>
              <a:t>	En el caso de cuenta vecino, se deberán probar valores de conteo que den 0, 1, 2, 3, 4, 5, 6, 7, 8</a:t>
            </a:r>
          </a:p>
          <a:p>
            <a:pPr marL="609600" indent="-609600">
              <a:spcBef>
                <a:spcPct val="0"/>
              </a:spcBef>
              <a:buFontTx/>
              <a:buAutoNum type="arabicPeriod" startAt="3"/>
            </a:pPr>
            <a:r>
              <a:rPr lang="es-ES_tradnl" sz="1800">
                <a:latin typeface="Verdana" pitchFamily="34" charset="0"/>
              </a:rPr>
              <a:t>Método de caja de Pandora</a:t>
            </a:r>
          </a:p>
          <a:p>
            <a:pPr marL="609600" indent="-609600">
              <a:spcBef>
                <a:spcPct val="0"/>
              </a:spcBef>
              <a:buFontTx/>
              <a:buNone/>
            </a:pPr>
            <a:r>
              <a:rPr lang="es-ES_tradnl" sz="1800">
                <a:latin typeface="Verdana" pitchFamily="34" charset="0"/>
              </a:rPr>
              <a:t>	Nos abstenemos de hacer pruebas y dejamos esa tarea para el cliente.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blinds(horizontal)">
                                      <p:cBhvr>
                                        <p:cTn id="7" dur="500"/>
                                        <p:tgtEl>
                                          <p:spTgt spid="2150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1507">
                                            <p:txEl>
                                              <p:pRg st="1" end="1"/>
                                            </p:txEl>
                                          </p:spTgt>
                                        </p:tgtEl>
                                        <p:attrNameLst>
                                          <p:attrName>style.visibility</p:attrName>
                                        </p:attrNameLst>
                                      </p:cBhvr>
                                      <p:to>
                                        <p:strVal val="visible"/>
                                      </p:to>
                                    </p:set>
                                    <p:animEffect transition="in" filter="blinds(horizontal)">
                                      <p:cBhvr>
                                        <p:cTn id="10" dur="500"/>
                                        <p:tgtEl>
                                          <p:spTgt spid="2150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1507">
                                            <p:txEl>
                                              <p:pRg st="3" end="3"/>
                                            </p:txEl>
                                          </p:spTgt>
                                        </p:tgtEl>
                                        <p:attrNameLst>
                                          <p:attrName>style.visibility</p:attrName>
                                        </p:attrNameLst>
                                      </p:cBhvr>
                                      <p:to>
                                        <p:strVal val="visible"/>
                                      </p:to>
                                    </p:set>
                                    <p:animEffect transition="in" filter="blinds(horizontal)">
                                      <p:cBhvr>
                                        <p:cTn id="15" dur="500"/>
                                        <p:tgtEl>
                                          <p:spTgt spid="21507">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1507">
                                            <p:txEl>
                                              <p:pRg st="4" end="4"/>
                                            </p:txEl>
                                          </p:spTgt>
                                        </p:tgtEl>
                                        <p:attrNameLst>
                                          <p:attrName>style.visibility</p:attrName>
                                        </p:attrNameLst>
                                      </p:cBhvr>
                                      <p:to>
                                        <p:strVal val="visible"/>
                                      </p:to>
                                    </p:set>
                                    <p:animEffect transition="in" filter="blinds(horizontal)">
                                      <p:cBhvr>
                                        <p:cTn id="20" dur="500"/>
                                        <p:tgtEl>
                                          <p:spTgt spid="21507">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1507">
                                            <p:txEl>
                                              <p:pRg st="5" end="5"/>
                                            </p:txEl>
                                          </p:spTgt>
                                        </p:tgtEl>
                                        <p:attrNameLst>
                                          <p:attrName>style.visibility</p:attrName>
                                        </p:attrNameLst>
                                      </p:cBhvr>
                                      <p:to>
                                        <p:strVal val="visible"/>
                                      </p:to>
                                    </p:set>
                                    <p:animEffect transition="in" filter="blinds(horizontal)">
                                      <p:cBhvr>
                                        <p:cTn id="25" dur="500"/>
                                        <p:tgtEl>
                                          <p:spTgt spid="21507">
                                            <p:txEl>
                                              <p:pRg st="5" end="5"/>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1507">
                                            <p:txEl>
                                              <p:pRg st="6" end="6"/>
                                            </p:txEl>
                                          </p:spTgt>
                                        </p:tgtEl>
                                        <p:attrNameLst>
                                          <p:attrName>style.visibility</p:attrName>
                                        </p:attrNameLst>
                                      </p:cBhvr>
                                      <p:to>
                                        <p:strVal val="visible"/>
                                      </p:to>
                                    </p:set>
                                    <p:animEffect transition="in" filter="blinds(horizontal)">
                                      <p:cBhvr>
                                        <p:cTn id="28" dur="500"/>
                                        <p:tgtEl>
                                          <p:spTgt spid="21507">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1507">
                                            <p:txEl>
                                              <p:pRg st="7" end="7"/>
                                            </p:txEl>
                                          </p:spTgt>
                                        </p:tgtEl>
                                        <p:attrNameLst>
                                          <p:attrName>style.visibility</p:attrName>
                                        </p:attrNameLst>
                                      </p:cBhvr>
                                      <p:to>
                                        <p:strVal val="visible"/>
                                      </p:to>
                                    </p:set>
                                    <p:animEffect transition="in" filter="blinds(horizontal)">
                                      <p:cBhvr>
                                        <p:cTn id="33" dur="500"/>
                                        <p:tgtEl>
                                          <p:spTgt spid="21507">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21507">
                                            <p:txEl>
                                              <p:pRg st="8" end="8"/>
                                            </p:txEl>
                                          </p:spTgt>
                                        </p:tgtEl>
                                        <p:attrNameLst>
                                          <p:attrName>style.visibility</p:attrName>
                                        </p:attrNameLst>
                                      </p:cBhvr>
                                      <p:to>
                                        <p:strVal val="visible"/>
                                      </p:to>
                                    </p:set>
                                    <p:animEffect transition="in" filter="blinds(horizontal)">
                                      <p:cBhvr>
                                        <p:cTn id="38" dur="500"/>
                                        <p:tgtEl>
                                          <p:spTgt spid="21507">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1507">
                                            <p:txEl>
                                              <p:pRg st="9" end="9"/>
                                            </p:txEl>
                                          </p:spTgt>
                                        </p:tgtEl>
                                        <p:attrNameLst>
                                          <p:attrName>style.visibility</p:attrName>
                                        </p:attrNameLst>
                                      </p:cBhvr>
                                      <p:to>
                                        <p:strVal val="visible"/>
                                      </p:to>
                                    </p:set>
                                    <p:animEffect transition="in" filter="blinds(horizontal)">
                                      <p:cBhvr>
                                        <p:cTn id="43" dur="500"/>
                                        <p:tgtEl>
                                          <p:spTgt spid="21507">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1507">
                                            <p:txEl>
                                              <p:pRg st="10" end="10"/>
                                            </p:txEl>
                                          </p:spTgt>
                                        </p:tgtEl>
                                        <p:attrNameLst>
                                          <p:attrName>style.visibility</p:attrName>
                                        </p:attrNameLst>
                                      </p:cBhvr>
                                      <p:to>
                                        <p:strVal val="visible"/>
                                      </p:to>
                                    </p:set>
                                    <p:animEffect transition="in" filter="blinds(horizontal)">
                                      <p:cBhvr>
                                        <p:cTn id="48" dur="500"/>
                                        <p:tgtEl>
                                          <p:spTgt spid="21507">
                                            <p:txEl>
                                              <p:pRg st="10" end="1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21507">
                                            <p:txEl>
                                              <p:pRg st="11" end="11"/>
                                            </p:txEl>
                                          </p:spTgt>
                                        </p:tgtEl>
                                        <p:attrNameLst>
                                          <p:attrName>style.visibility</p:attrName>
                                        </p:attrNameLst>
                                      </p:cBhvr>
                                      <p:to>
                                        <p:strVal val="visible"/>
                                      </p:to>
                                    </p:set>
                                    <p:animEffect transition="in" filter="blinds(horizontal)">
                                      <p:cBhvr>
                                        <p:cTn id="53" dur="500"/>
                                        <p:tgtEl>
                                          <p:spTgt spid="2150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uiExpand="1"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Sp="0" showMasterPhAnim="0">
  <p:cSld>
    <p:bg>
      <p:bgPr>
        <a:solidFill>
          <a:schemeClr val="tx1">
            <a:lumMod val="95000"/>
          </a:schemeClr>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04800" y="152400"/>
            <a:ext cx="8515350" cy="685800"/>
          </a:xfrm>
        </p:spPr>
        <p:txBody>
          <a:bodyPr>
            <a:normAutofit/>
          </a:bodyPr>
          <a:lstStyle/>
          <a:p>
            <a:pPr algn="l"/>
            <a:r>
              <a:rPr lang="es-ES_tradnl" sz="3200">
                <a:latin typeface="Verdana" pitchFamily="34" charset="0"/>
              </a:rPr>
              <a:t>Algunas otras reglas de programación</a:t>
            </a:r>
            <a:endParaRPr lang="es-ES" sz="3200">
              <a:latin typeface="Verdana" pitchFamily="34" charset="0"/>
            </a:endParaRPr>
          </a:p>
        </p:txBody>
      </p:sp>
      <p:sp>
        <p:nvSpPr>
          <p:cNvPr id="22531" name="Rectangle 3"/>
          <p:cNvSpPr>
            <a:spLocks noGrp="1" noChangeArrowheads="1"/>
          </p:cNvSpPr>
          <p:nvPr>
            <p:ph idx="1"/>
          </p:nvPr>
        </p:nvSpPr>
        <p:spPr>
          <a:xfrm>
            <a:off x="228600" y="914400"/>
            <a:ext cx="8686800" cy="5715000"/>
          </a:xfrm>
        </p:spPr>
        <p:txBody>
          <a:bodyPr>
            <a:normAutofit/>
          </a:bodyPr>
          <a:lstStyle/>
          <a:p>
            <a:pPr marL="609600" indent="-609600">
              <a:lnSpc>
                <a:spcPct val="90000"/>
              </a:lnSpc>
              <a:buFontTx/>
              <a:buNone/>
            </a:pPr>
            <a:r>
              <a:rPr lang="es-ES_tradnl" sz="2000" dirty="0">
                <a:solidFill>
                  <a:schemeClr val="accent1"/>
                </a:solidFill>
                <a:latin typeface="Verdana" pitchFamily="34" charset="0"/>
              </a:rPr>
              <a:t>Casi todos los programadores pasan 90% del tiempo realizando el 10% de las instrucciones. Encuentre ese 10% y concéntrese en mejorar allí la eficiencia.</a:t>
            </a:r>
          </a:p>
          <a:p>
            <a:pPr marL="609600" indent="-609600">
              <a:lnSpc>
                <a:spcPct val="90000"/>
              </a:lnSpc>
              <a:buFontTx/>
              <a:buNone/>
            </a:pPr>
            <a:endParaRPr lang="es-ES_tradnl" sz="2000" dirty="0">
              <a:solidFill>
                <a:schemeClr val="accent1"/>
              </a:solidFill>
              <a:latin typeface="Verdana" pitchFamily="34" charset="0"/>
            </a:endParaRPr>
          </a:p>
          <a:p>
            <a:pPr marL="609600" indent="-609600">
              <a:lnSpc>
                <a:spcPct val="90000"/>
              </a:lnSpc>
              <a:buFontTx/>
              <a:buNone/>
            </a:pPr>
            <a:r>
              <a:rPr lang="es-ES_tradnl" sz="2000" dirty="0">
                <a:solidFill>
                  <a:schemeClr val="accent1"/>
                </a:solidFill>
                <a:latin typeface="Verdana" pitchFamily="34" charset="0"/>
              </a:rPr>
              <a:t>Procure que los algoritmos sean lo más simples posibles.</a:t>
            </a:r>
          </a:p>
          <a:p>
            <a:pPr marL="609600" indent="-609600">
              <a:lnSpc>
                <a:spcPct val="90000"/>
              </a:lnSpc>
              <a:buFontTx/>
              <a:buNone/>
            </a:pPr>
            <a:endParaRPr lang="es-ES_tradnl" sz="2000" dirty="0">
              <a:solidFill>
                <a:schemeClr val="accent1"/>
              </a:solidFill>
              <a:latin typeface="Verdana" pitchFamily="34" charset="0"/>
            </a:endParaRPr>
          </a:p>
          <a:p>
            <a:pPr marL="609600" indent="-609600">
              <a:lnSpc>
                <a:spcPct val="90000"/>
              </a:lnSpc>
              <a:buFontTx/>
              <a:buNone/>
            </a:pPr>
            <a:r>
              <a:rPr lang="es-ES_tradnl" sz="2000" dirty="0">
                <a:solidFill>
                  <a:schemeClr val="accent1"/>
                </a:solidFill>
                <a:latin typeface="Verdana" pitchFamily="34" charset="0"/>
              </a:rPr>
              <a:t>Analice las exigencias de tiempo y espacio al seleccionar un algoritmo.</a:t>
            </a:r>
          </a:p>
          <a:p>
            <a:pPr marL="609600" indent="-609600">
              <a:lnSpc>
                <a:spcPct val="90000"/>
              </a:lnSpc>
              <a:buFontTx/>
              <a:buNone/>
            </a:pPr>
            <a:endParaRPr lang="es-ES_tradnl" sz="2000" dirty="0">
              <a:solidFill>
                <a:schemeClr val="accent1"/>
              </a:solidFill>
              <a:latin typeface="Verdana" pitchFamily="34" charset="0"/>
            </a:endParaRPr>
          </a:p>
          <a:p>
            <a:pPr marL="609600" indent="-609600">
              <a:lnSpc>
                <a:spcPct val="90000"/>
              </a:lnSpc>
              <a:buFontTx/>
              <a:buNone/>
            </a:pPr>
            <a:r>
              <a:rPr lang="es-ES_tradnl" sz="2000" dirty="0">
                <a:solidFill>
                  <a:schemeClr val="accent1"/>
                </a:solidFill>
                <a:latin typeface="Verdana" pitchFamily="34" charset="0"/>
              </a:rPr>
              <a:t>Nunca tema volver a empezar desde el principio. Es posible que el segundo intento sea más breve y fácil.</a:t>
            </a:r>
          </a:p>
          <a:p>
            <a:pPr marL="609600" indent="-609600">
              <a:lnSpc>
                <a:spcPct val="90000"/>
              </a:lnSpc>
              <a:buFontTx/>
              <a:buNone/>
            </a:pPr>
            <a:endParaRPr lang="es-ES_tradnl" sz="2000" dirty="0">
              <a:solidFill>
                <a:schemeClr val="accent1"/>
              </a:solidFill>
              <a:latin typeface="Verdana" pitchFamily="34" charset="0"/>
            </a:endParaRPr>
          </a:p>
          <a:p>
            <a:pPr marL="609600" indent="-609600">
              <a:lnSpc>
                <a:spcPct val="90000"/>
              </a:lnSpc>
              <a:buFontTx/>
              <a:buNone/>
            </a:pPr>
            <a:r>
              <a:rPr lang="es-ES_tradnl" sz="2000" dirty="0">
                <a:solidFill>
                  <a:schemeClr val="accent1"/>
                </a:solidFill>
                <a:latin typeface="Verdana" pitchFamily="34" charset="0"/>
              </a:rPr>
              <a:t>Cerciórese de que entiende completamente el problema. Si se debe cambiar los términos del mismo explique exactamente lo que usted ha hecho.</a:t>
            </a:r>
          </a:p>
          <a:p>
            <a:pPr marL="609600" indent="-609600">
              <a:lnSpc>
                <a:spcPct val="90000"/>
              </a:lnSpc>
              <a:buFontTx/>
              <a:buNone/>
            </a:pPr>
            <a:endParaRPr lang="es-ES_tradnl" sz="2000" dirty="0">
              <a:solidFill>
                <a:schemeClr val="accent1"/>
              </a:solidFill>
              <a:latin typeface="Verdana" pitchFamily="34" charset="0"/>
            </a:endParaRPr>
          </a:p>
          <a:p>
            <a:pPr marL="609600" indent="-609600">
              <a:lnSpc>
                <a:spcPct val="90000"/>
              </a:lnSpc>
              <a:buFontTx/>
              <a:buNone/>
            </a:pPr>
            <a:r>
              <a:rPr lang="es-ES_tradnl" sz="2000" dirty="0">
                <a:solidFill>
                  <a:schemeClr val="accent1"/>
                </a:solidFill>
                <a:latin typeface="Verdana" pitchFamily="34" charset="0"/>
              </a:rPr>
              <a:t>Comenzar de nuevo suele ser más fácil que parchar un programa viejo.</a:t>
            </a:r>
          </a:p>
          <a:p>
            <a:pPr marL="609600" indent="-609600">
              <a:lnSpc>
                <a:spcPct val="90000"/>
              </a:lnSpc>
              <a:buFontTx/>
              <a:buNone/>
            </a:pPr>
            <a:endParaRPr lang="es-ES_tradnl" sz="2000" dirty="0">
              <a:solidFill>
                <a:schemeClr val="accent1"/>
              </a:solidFill>
              <a:latin typeface="Verdana" pitchFamily="34" charset="0"/>
            </a:endParaRPr>
          </a:p>
          <a:p>
            <a:pPr marL="609600" indent="-609600">
              <a:lnSpc>
                <a:spcPct val="90000"/>
              </a:lnSpc>
              <a:buFontTx/>
              <a:buNone/>
            </a:pPr>
            <a:endParaRPr lang="es-ES_tradnl" sz="2000" dirty="0">
              <a:solidFill>
                <a:schemeClr val="accent1"/>
              </a:solidFill>
              <a:latin typeface="Verdana" pitchFamily="34" charset="0"/>
            </a:endParaRPr>
          </a:p>
          <a:p>
            <a:pPr marL="609600" indent="-609600">
              <a:lnSpc>
                <a:spcPct val="90000"/>
              </a:lnSpc>
              <a:buFontTx/>
              <a:buNone/>
            </a:pPr>
            <a:endParaRPr lang="es-ES_tradnl" sz="2000" dirty="0">
              <a:solidFill>
                <a:schemeClr val="accent1"/>
              </a:solidFill>
              <a:latin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blinds(horizontal)">
                                      <p:cBhvr>
                                        <p:cTn id="7" dur="500"/>
                                        <p:tgtEl>
                                          <p:spTgt spid="22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531">
                                            <p:txEl>
                                              <p:pRg st="2" end="2"/>
                                            </p:txEl>
                                          </p:spTgt>
                                        </p:tgtEl>
                                        <p:attrNameLst>
                                          <p:attrName>style.visibility</p:attrName>
                                        </p:attrNameLst>
                                      </p:cBhvr>
                                      <p:to>
                                        <p:strVal val="visible"/>
                                      </p:to>
                                    </p:set>
                                    <p:animEffect transition="in" filter="blinds(horizontal)">
                                      <p:cBhvr>
                                        <p:cTn id="12" dur="500"/>
                                        <p:tgtEl>
                                          <p:spTgt spid="2253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531">
                                            <p:txEl>
                                              <p:pRg st="4" end="4"/>
                                            </p:txEl>
                                          </p:spTgt>
                                        </p:tgtEl>
                                        <p:attrNameLst>
                                          <p:attrName>style.visibility</p:attrName>
                                        </p:attrNameLst>
                                      </p:cBhvr>
                                      <p:to>
                                        <p:strVal val="visible"/>
                                      </p:to>
                                    </p:set>
                                    <p:animEffect transition="in" filter="blinds(horizontal)">
                                      <p:cBhvr>
                                        <p:cTn id="17" dur="500"/>
                                        <p:tgtEl>
                                          <p:spTgt spid="2253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531">
                                            <p:txEl>
                                              <p:pRg st="6" end="6"/>
                                            </p:txEl>
                                          </p:spTgt>
                                        </p:tgtEl>
                                        <p:attrNameLst>
                                          <p:attrName>style.visibility</p:attrName>
                                        </p:attrNameLst>
                                      </p:cBhvr>
                                      <p:to>
                                        <p:strVal val="visible"/>
                                      </p:to>
                                    </p:set>
                                    <p:animEffect transition="in" filter="blinds(horizontal)">
                                      <p:cBhvr>
                                        <p:cTn id="22" dur="500"/>
                                        <p:tgtEl>
                                          <p:spTgt spid="22531">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531">
                                            <p:txEl>
                                              <p:pRg st="8" end="8"/>
                                            </p:txEl>
                                          </p:spTgt>
                                        </p:tgtEl>
                                        <p:attrNameLst>
                                          <p:attrName>style.visibility</p:attrName>
                                        </p:attrNameLst>
                                      </p:cBhvr>
                                      <p:to>
                                        <p:strVal val="visible"/>
                                      </p:to>
                                    </p:set>
                                    <p:animEffect transition="in" filter="blinds(horizontal)">
                                      <p:cBhvr>
                                        <p:cTn id="27" dur="500"/>
                                        <p:tgtEl>
                                          <p:spTgt spid="22531">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2531">
                                            <p:txEl>
                                              <p:pRg st="10" end="10"/>
                                            </p:txEl>
                                          </p:spTgt>
                                        </p:tgtEl>
                                        <p:attrNameLst>
                                          <p:attrName>style.visibility</p:attrName>
                                        </p:attrNameLst>
                                      </p:cBhvr>
                                      <p:to>
                                        <p:strVal val="visible"/>
                                      </p:to>
                                    </p:set>
                                    <p:animEffect transition="in" filter="blinds(horizontal)">
                                      <p:cBhvr>
                                        <p:cTn id="32" dur="500"/>
                                        <p:tgtEl>
                                          <p:spTgt spid="2253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autoUpdateAnimBg="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ío">
  <a:themeElements>
    <a:clrScheme name="Brío">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Brí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Brío">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271</TotalTime>
  <Words>985</Words>
  <Application>Microsoft PowerPoint</Application>
  <PresentationFormat>Presentación en pantalla (4:3)</PresentationFormat>
  <Paragraphs>208</Paragraphs>
  <Slides>15</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15</vt:i4>
      </vt:variant>
    </vt:vector>
  </HeadingPairs>
  <TitlesOfParts>
    <vt:vector size="18" baseType="lpstr">
      <vt:lpstr>Times New Roman</vt:lpstr>
      <vt:lpstr>Verdana</vt:lpstr>
      <vt:lpstr>Brío</vt:lpstr>
      <vt:lpstr>PRINCIPIOS DE PROGRAMACION</vt:lpstr>
      <vt:lpstr>Reglas del juego de la Vida</vt:lpstr>
      <vt:lpstr>Ejemplos</vt:lpstr>
      <vt:lpstr>Secuencia de un comunidad</vt:lpstr>
      <vt:lpstr>La solución</vt:lpstr>
      <vt:lpstr>La solución</vt:lpstr>
      <vt:lpstr>Principios de programación</vt:lpstr>
      <vt:lpstr>Principios de programación</vt:lpstr>
      <vt:lpstr>Principios de programación</vt:lpstr>
      <vt:lpstr>Principios de programación</vt:lpstr>
      <vt:lpstr>Principios de programación</vt:lpstr>
      <vt:lpstr>Ejemplo: Función CuentaVecino()</vt:lpstr>
      <vt:lpstr>Principios de prueba de Programación</vt:lpstr>
      <vt:lpstr>Principios de prueba de programación</vt:lpstr>
      <vt:lpstr>Algunas otras reglas de programación</vt:lpstr>
    </vt:vector>
  </TitlesOfParts>
  <Company>Córdoba Software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PRINCIPIOS DE PROGRAMACION</dc:title>
  <dc:creator>Verónica Borgatello</dc:creator>
  <cp:lastModifiedBy>jvulcano</cp:lastModifiedBy>
  <cp:revision>12</cp:revision>
  <dcterms:created xsi:type="dcterms:W3CDTF">2003-03-19T22:53:27Z</dcterms:created>
  <dcterms:modified xsi:type="dcterms:W3CDTF">2012-04-25T09:52:17Z</dcterms:modified>
</cp:coreProperties>
</file>